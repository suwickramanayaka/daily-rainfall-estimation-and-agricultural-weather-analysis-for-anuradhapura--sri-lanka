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Inter SemiBold"/>
      <p:regular r:id="rId16"/>
      <p:bold r:id="rId17"/>
      <p:italic r:id="rId18"/>
      <p:boldItalic r:id="rId19"/>
    </p:embeddedFont>
    <p:embeddedFont>
      <p:font typeface="Inter"/>
      <p:bold r:id="rId20"/>
      <p:boldItalic r:id="rId21"/>
    </p:embeddedFont>
    <p:embeddedFont>
      <p:font typeface="Inter ExtraBold"/>
      <p:bold r:id="rId22"/>
      <p:boldItalic r:id="rId23"/>
    </p:embeddedFont>
    <p:embeddedFont>
      <p:font typeface="Inter Medium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ExtraBold-bold.fntdata"/><Relationship Id="rId21" Type="http://schemas.openxmlformats.org/officeDocument/2006/relationships/font" Target="fonts/Inter-boldItalic.fntdata"/><Relationship Id="rId24" Type="http://schemas.openxmlformats.org/officeDocument/2006/relationships/font" Target="fonts/InterMedium-regular.fntdata"/><Relationship Id="rId23" Type="http://schemas.openxmlformats.org/officeDocument/2006/relationships/font" Target="fonts/InterExtra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Medium-italic.fntdata"/><Relationship Id="rId25" Type="http://schemas.openxmlformats.org/officeDocument/2006/relationships/font" Target="fonts/InterMedium-bold.fntdata"/><Relationship Id="rId27" Type="http://schemas.openxmlformats.org/officeDocument/2006/relationships/font" Target="fonts/Inter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SemiBold-bold.fntdata"/><Relationship Id="rId16" Type="http://schemas.openxmlformats.org/officeDocument/2006/relationships/font" Target="fonts/InterSemiBold-regular.fntdata"/><Relationship Id="rId19" Type="http://schemas.openxmlformats.org/officeDocument/2006/relationships/font" Target="fonts/InterSemiBold-boldItalic.fntdata"/><Relationship Id="rId18" Type="http://schemas.openxmlformats.org/officeDocument/2006/relationships/font" Target="fonts/Inter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637968bf1_2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637968bf1_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637968bf1_2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637968bf1_2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37968bf1_2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37968bf1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637968bf1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637968bf1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637968bf1_2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637968bf1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637968bf1_1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637968bf1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637968bf1_1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f637968bf1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637968bf1_1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f637968bf1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637968bf1_1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f637968bf1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637968bf1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f637968bf1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637968bf1_14_0)">
  <p:cSld name="Generated (g3f637968bf1_14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1.jpg"/><Relationship Id="rId5" Type="http://schemas.openxmlformats.org/officeDocument/2006/relationships/image" Target="../media/image1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Relationship Id="rId7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5381625" y="619125"/>
            <a:ext cx="3000300" cy="4000500"/>
          </a:xfrm>
          <a:prstGeom prst="roundRect">
            <a:avLst>
              <a:gd fmla="val 5079" name="adj"/>
            </a:avLst>
          </a:prstGeom>
          <a:solidFill>
            <a:srgbClr val="000000">
              <a:alpha val="0"/>
            </a:srgbClr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stunning, high-quality photograph of an ancient reservoir (wewa) in Anuradhapura, Sri Lanka. In the background, the majestic white dome of Ruwanwelisaya stupa rises above lush green tropical trees under a dramatic, overcast rainy sky with soft rainfall and mist. Professional landscape photography, cinematic lighting, serene atmosphere." id="56" name="Google Shape;56;p14"/>
          <p:cNvPicPr preferRelativeResize="0"/>
          <p:nvPr/>
        </p:nvPicPr>
        <p:blipFill rotWithShape="1">
          <a:blip r:embed="rId4">
            <a:alphaModFix/>
          </a:blip>
          <a:srcRect b="219" l="0" r="0" t="219"/>
          <a:stretch/>
        </p:blipFill>
        <p:spPr>
          <a:xfrm>
            <a:off x="5381625" y="619125"/>
            <a:ext cx="30003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 txBox="1"/>
          <p:nvPr/>
        </p:nvSpPr>
        <p:spPr>
          <a:xfrm>
            <a:off x="762000" y="762000"/>
            <a:ext cx="4191000" cy="21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18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IT5117 · PROGRAMMING ESSENTIALS FOR AI</a:t>
            </a:r>
            <a:endParaRPr b="1" sz="1018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296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Daily Rainfall</a:t>
            </a:r>
            <a:endParaRPr b="0" sz="296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296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Estimation &amp;</a:t>
            </a:r>
            <a:endParaRPr b="0" sz="296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296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Weather Analysis</a:t>
            </a:r>
            <a:endParaRPr b="0" sz="296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480">
                <a:solidFill>
                  <a:srgbClr val="0284C7"/>
                </a:solidFill>
                <a:latin typeface="Inter Medium"/>
                <a:ea typeface="Inter Medium"/>
                <a:cs typeface="Inter Medium"/>
                <a:sym typeface="Inter Medium"/>
              </a:rPr>
              <a:t>for Anuradhapura, Sri Lanka</a:t>
            </a:r>
            <a:endParaRPr b="0" sz="1480">
              <a:solidFill>
                <a:srgbClr val="0284C7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58" name="Google Shape;58;p14"/>
          <p:cNvGrpSpPr/>
          <p:nvPr/>
        </p:nvGrpSpPr>
        <p:grpSpPr>
          <a:xfrm>
            <a:off x="762000" y="3238500"/>
            <a:ext cx="4191000" cy="1047900"/>
            <a:chOff x="0" y="0"/>
            <a:chExt cx="4191000" cy="1047900"/>
          </a:xfrm>
        </p:grpSpPr>
        <p:sp>
          <p:nvSpPr>
            <p:cNvPr id="59" name="Google Shape;59;p14"/>
            <p:cNvSpPr/>
            <p:nvPr/>
          </p:nvSpPr>
          <p:spPr>
            <a:xfrm>
              <a:off x="0" y="0"/>
              <a:ext cx="38100" cy="10479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 txBox="1"/>
            <p:nvPr/>
          </p:nvSpPr>
          <p:spPr>
            <a:xfrm>
              <a:off x="190500" y="0"/>
              <a:ext cx="4000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Sithum Wickramanayaka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Student No: 269214N</a:t>
              </a:r>
              <a:endParaRPr b="0" sz="11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MSc in Artificial Intelligence (Batch 19)</a:t>
              </a:r>
              <a:endParaRPr b="0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University of Moratuwa</a:t>
              </a:r>
              <a:endParaRPr b="0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61" name="Google Shape;61;p14"/>
          <p:cNvPicPr preferRelativeResize="0"/>
          <p:nvPr/>
        </p:nvPicPr>
        <p:blipFill rotWithShape="1">
          <a:blip r:embed="rId5">
            <a:alphaModFix/>
          </a:blip>
          <a:srcRect b="0" l="13910" r="-13910" t="0"/>
          <a:stretch/>
        </p:blipFill>
        <p:spPr>
          <a:xfrm>
            <a:off x="4267200" y="0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15"/>
          <p:cNvGrpSpPr/>
          <p:nvPr/>
        </p:nvGrpSpPr>
        <p:grpSpPr>
          <a:xfrm>
            <a:off x="476250" y="285750"/>
            <a:ext cx="8191500" cy="85800"/>
            <a:chOff x="476250" y="285750"/>
            <a:chExt cx="8191500" cy="85800"/>
          </a:xfrm>
        </p:grpSpPr>
        <p:sp>
          <p:nvSpPr>
            <p:cNvPr id="67" name="Google Shape;67;p15"/>
            <p:cNvSpPr/>
            <p:nvPr/>
          </p:nvSpPr>
          <p:spPr>
            <a:xfrm>
              <a:off x="476250" y="285750"/>
              <a:ext cx="8191500" cy="381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476250" y="361950"/>
              <a:ext cx="1143000" cy="9600"/>
            </a:xfrm>
            <a:prstGeom prst="rect">
              <a:avLst/>
            </a:prstGeom>
            <a:solidFill>
              <a:srgbClr val="4A556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" name="Google Shape;69;p15"/>
          <p:cNvSpPr txBox="1"/>
          <p:nvPr/>
        </p:nvSpPr>
        <p:spPr>
          <a:xfrm>
            <a:off x="476250" y="523875"/>
            <a:ext cx="819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Rainfall variability makes agricultural planning difficult.</a:t>
            </a:r>
            <a:endParaRPr b="1" sz="22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0" name="Google Shape;70;p15"/>
          <p:cNvGrpSpPr/>
          <p:nvPr/>
        </p:nvGrpSpPr>
        <p:grpSpPr>
          <a:xfrm>
            <a:off x="476250" y="1238250"/>
            <a:ext cx="3810000" cy="3714675"/>
            <a:chOff x="0" y="0"/>
            <a:chExt cx="3810000" cy="3714675"/>
          </a:xfrm>
        </p:grpSpPr>
        <p:sp>
          <p:nvSpPr>
            <p:cNvPr id="71" name="Google Shape;71;p15"/>
            <p:cNvSpPr txBox="1"/>
            <p:nvPr/>
          </p:nvSpPr>
          <p:spPr>
            <a:xfrm>
              <a:off x="0" y="0"/>
              <a:ext cx="38100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4B8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Decision Context</a:t>
              </a:r>
              <a:endParaRPr b="0" sz="1400">
                <a:solidFill>
                  <a:srgbClr val="004B8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111111"/>
                </a:buClr>
                <a:buSzPts val="1100"/>
                <a:buFont typeface="Inter"/>
                <a:buChar char="●"/>
              </a:pPr>
              <a:r>
                <a:rPr b="0" lang="en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Seasonal rainfall is uneven, and extreme events remain difficult to predict.</a:t>
              </a:r>
              <a:endParaRPr b="0" sz="11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111111"/>
                </a:buClr>
                <a:buSzPts val="1100"/>
                <a:buFont typeface="Inter"/>
                <a:buChar char="●"/>
              </a:pPr>
              <a:r>
                <a:rPr b="0" lang="en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Farmers and planners need local evidence to make informed decisions.</a:t>
              </a:r>
              <a:endParaRPr b="0" sz="11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2" name="Google Shape;72;p15"/>
            <p:cNvSpPr txBox="1"/>
            <p:nvPr/>
          </p:nvSpPr>
          <p:spPr>
            <a:xfrm>
              <a:off x="0" y="1476375"/>
              <a:ext cx="3810000" cy="2238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4B8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Agricultural Importance</a:t>
              </a:r>
              <a:endParaRPr b="0" sz="1400">
                <a:solidFill>
                  <a:srgbClr val="004B8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111111"/>
                </a:buClr>
                <a:buSzPts val="1100"/>
                <a:buFont typeface="Inter"/>
                <a:buChar char="●"/>
              </a:pPr>
              <a:r>
                <a:rPr b="0" lang="en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Seasonal rainfall directly affects crop timing, irrigation scheduling, water storage capacity, and weather preparation.</a:t>
              </a:r>
              <a:endParaRPr b="0" sz="11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111111"/>
                </a:buClr>
                <a:buSzPts val="1100"/>
                <a:buFont typeface="Inter"/>
                <a:buChar char="●"/>
              </a:pPr>
              <a:r>
                <a:rPr b="0" lang="en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The primary analysis objective is to estimate daily rainfall and identify key local patterns.</a:t>
              </a:r>
              <a:endParaRPr b="0" sz="11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111111"/>
                </a:buClr>
                <a:buSzPts val="1100"/>
                <a:buFont typeface="Inter"/>
                <a:buChar char="●"/>
              </a:pPr>
              <a:r>
                <a:rPr b="0" lang="en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Annual data demonstrates substantial year-to-year variation, motivating the need for consistent historical analysis.</a:t>
              </a:r>
              <a:endParaRPr b="0" sz="11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3" name="Google Shape;73;p15"/>
          <p:cNvGrpSpPr/>
          <p:nvPr/>
        </p:nvGrpSpPr>
        <p:grpSpPr>
          <a:xfrm>
            <a:off x="4572000" y="1238250"/>
            <a:ext cx="4095900" cy="3428925"/>
            <a:chOff x="0" y="0"/>
            <a:chExt cx="4095900" cy="3428925"/>
          </a:xfrm>
        </p:grpSpPr>
        <p:grpSp>
          <p:nvGrpSpPr>
            <p:cNvPr id="74" name="Google Shape;74;p15"/>
            <p:cNvGrpSpPr/>
            <p:nvPr/>
          </p:nvGrpSpPr>
          <p:grpSpPr>
            <a:xfrm>
              <a:off x="0" y="0"/>
              <a:ext cx="4095900" cy="1809600"/>
              <a:chOff x="0" y="0"/>
              <a:chExt cx="4095900" cy="1809600"/>
            </a:xfrm>
          </p:grpSpPr>
          <p:pic>
            <p:nvPicPr>
              <p:cNvPr id="75" name="Google Shape;75;p15"/>
              <p:cNvPicPr preferRelativeResize="0"/>
              <p:nvPr/>
            </p:nvPicPr>
            <p:blipFill rotWithShape="1">
              <a:blip r:embed="rId4">
                <a:alphaModFix/>
              </a:blip>
              <a:srcRect b="5357" l="0" r="0" t="5366"/>
              <a:stretch/>
            </p:blipFill>
            <p:spPr>
              <a:xfrm>
                <a:off x="0" y="0"/>
                <a:ext cx="4095900" cy="1809600"/>
              </a:xfrm>
              <a:prstGeom prst="roundRect">
                <a:avLst>
                  <a:gd fmla="val 4210" name="adj"/>
                </a:avLst>
              </a:prstGeom>
              <a:noFill/>
              <a:ln>
                <a:noFill/>
              </a:ln>
            </p:spPr>
          </p:pic>
          <p:sp>
            <p:nvSpPr>
              <p:cNvPr id="76" name="Google Shape;76;p15"/>
              <p:cNvSpPr/>
              <p:nvPr/>
            </p:nvSpPr>
            <p:spPr>
              <a:xfrm>
                <a:off x="0" y="0"/>
                <a:ext cx="4095900" cy="1809600"/>
              </a:xfrm>
              <a:prstGeom prst="roundRect">
                <a:avLst>
                  <a:gd fmla="val 4210" name="adj"/>
                </a:avLst>
              </a:prstGeom>
              <a:solidFill>
                <a:srgbClr val="000000">
                  <a:alpha val="0"/>
                </a:srgbClr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" name="Google Shape;77;p15"/>
            <p:cNvGrpSpPr/>
            <p:nvPr/>
          </p:nvGrpSpPr>
          <p:grpSpPr>
            <a:xfrm>
              <a:off x="0" y="1952625"/>
              <a:ext cx="4095900" cy="1476300"/>
              <a:chOff x="0" y="0"/>
              <a:chExt cx="4095900" cy="1476300"/>
            </a:xfrm>
          </p:grpSpPr>
          <p:pic>
            <p:nvPicPr>
              <p:cNvPr id="78" name="Google Shape;78;p15"/>
              <p:cNvPicPr preferRelativeResize="0"/>
              <p:nvPr/>
            </p:nvPicPr>
            <p:blipFill rotWithShape="1">
              <a:blip r:embed="rId5">
                <a:alphaModFix/>
              </a:blip>
              <a:srcRect b="31977" l="0" r="0" t="31977"/>
              <a:stretch/>
            </p:blipFill>
            <p:spPr>
              <a:xfrm>
                <a:off x="0" y="0"/>
                <a:ext cx="4095900" cy="1476300"/>
              </a:xfrm>
              <a:prstGeom prst="roundRect">
                <a:avLst>
                  <a:gd fmla="val 5161" name="adj"/>
                </a:avLst>
              </a:prstGeom>
              <a:noFill/>
              <a:ln>
                <a:noFill/>
              </a:ln>
            </p:spPr>
          </p:pic>
          <p:sp>
            <p:nvSpPr>
              <p:cNvPr id="79" name="Google Shape;79;p15"/>
              <p:cNvSpPr/>
              <p:nvPr/>
            </p:nvSpPr>
            <p:spPr>
              <a:xfrm>
                <a:off x="0" y="0"/>
                <a:ext cx="4095900" cy="1476300"/>
              </a:xfrm>
              <a:prstGeom prst="roundRect">
                <a:avLst>
                  <a:gd fmla="val 5161" name="adj"/>
                </a:avLst>
              </a:prstGeom>
              <a:solidFill>
                <a:srgbClr val="000000">
                  <a:alpha val="0"/>
                </a:srgbClr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" name="Google Shape;85;p16"/>
          <p:cNvGrpSpPr/>
          <p:nvPr/>
        </p:nvGrpSpPr>
        <p:grpSpPr>
          <a:xfrm>
            <a:off x="476250" y="285750"/>
            <a:ext cx="8191500" cy="85800"/>
            <a:chOff x="476250" y="285750"/>
            <a:chExt cx="8191500" cy="85800"/>
          </a:xfrm>
        </p:grpSpPr>
        <p:sp>
          <p:nvSpPr>
            <p:cNvPr id="86" name="Google Shape;86;p16"/>
            <p:cNvSpPr/>
            <p:nvPr/>
          </p:nvSpPr>
          <p:spPr>
            <a:xfrm>
              <a:off x="476250" y="285750"/>
              <a:ext cx="8191500" cy="381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6"/>
            <p:cNvSpPr/>
            <p:nvPr/>
          </p:nvSpPr>
          <p:spPr>
            <a:xfrm>
              <a:off x="476250" y="361950"/>
              <a:ext cx="1143000" cy="9600"/>
            </a:xfrm>
            <a:prstGeom prst="rect">
              <a:avLst/>
            </a:prstGeom>
            <a:solidFill>
              <a:srgbClr val="4A556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16"/>
          <p:cNvSpPr txBox="1"/>
          <p:nvPr/>
        </p:nvSpPr>
        <p:spPr>
          <a:xfrm>
            <a:off x="476250" y="523875"/>
            <a:ext cx="819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Ten Years of Data Show a Clear Rainfall Season</a:t>
            </a:r>
            <a:endParaRPr b="1" sz="22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476250" y="1095375"/>
            <a:ext cx="8191500" cy="14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80">
                <a:solidFill>
                  <a:srgbClr val="004B87"/>
                </a:solidFill>
                <a:latin typeface="Inter Medium"/>
                <a:ea typeface="Inter Medium"/>
                <a:cs typeface="Inter Medium"/>
                <a:sym typeface="Inter Medium"/>
              </a:rPr>
              <a:t>NASA POWER Agroclimatology Parameters</a:t>
            </a:r>
            <a:endParaRPr b="0" sz="1480">
              <a:solidFill>
                <a:srgbClr val="004B87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9085" lvl="0" marL="457200" rtl="0" algn="l">
              <a:spcBef>
                <a:spcPts val="800"/>
              </a:spcBef>
              <a:spcAft>
                <a:spcPts val="0"/>
              </a:spcAft>
              <a:buClr>
                <a:srgbClr val="111111"/>
              </a:buClr>
              <a:buSzPts val="1110"/>
              <a:buFont typeface="Inter"/>
              <a:buChar char="●"/>
            </a:pPr>
            <a:r>
              <a:rPr b="1" lang="en" sz="1110">
                <a:solidFill>
                  <a:srgbClr val="004B87"/>
                </a:solidFill>
                <a:latin typeface="Inter"/>
                <a:ea typeface="Inter"/>
                <a:cs typeface="Inter"/>
                <a:sym typeface="Inter"/>
              </a:rPr>
              <a:t>Dataset:</a:t>
            </a:r>
            <a:r>
              <a:rPr b="0" lang="en" sz="111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3,653 complete daily records (no missing −999 values) sourced from NASA POWER.</a:t>
            </a:r>
            <a:endParaRPr b="0" sz="111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9085" lvl="0" marL="457200" rtl="0" algn="l"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110"/>
              <a:buFont typeface="Inter"/>
              <a:buChar char="●"/>
            </a:pPr>
            <a:r>
              <a:rPr b="1" lang="en" sz="1110">
                <a:solidFill>
                  <a:srgbClr val="004B87"/>
                </a:solidFill>
                <a:latin typeface="Inter"/>
                <a:ea typeface="Inter"/>
                <a:cs typeface="Inter"/>
                <a:sym typeface="Inter"/>
              </a:rPr>
              <a:t>Scope:</a:t>
            </a:r>
            <a:r>
              <a:rPr b="0" lang="en" sz="111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Covers 2015 to 2024, including 15 weather measurement variables with no personal data.</a:t>
            </a:r>
            <a:endParaRPr b="0" sz="111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9085" lvl="0" marL="457200" rtl="0" algn="l"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110"/>
              <a:buFont typeface="Inter"/>
              <a:buChar char="●"/>
            </a:pPr>
            <a:r>
              <a:rPr b="1" lang="en" sz="1110">
                <a:solidFill>
                  <a:srgbClr val="004B87"/>
                </a:solidFill>
                <a:latin typeface="Inter"/>
                <a:ea typeface="Inter"/>
                <a:cs typeface="Inter"/>
                <a:sym typeface="Inter"/>
              </a:rPr>
              <a:t>Target Variable:</a:t>
            </a:r>
            <a:r>
              <a:rPr b="0" lang="en" sz="111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PRECTOTCORR (mm/day) utilized for estimation.</a:t>
            </a:r>
            <a:endParaRPr b="0" sz="111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9085" lvl="0" marL="457200" rtl="0" algn="l"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110"/>
              <a:buFont typeface="Inter"/>
              <a:buChar char="●"/>
            </a:pPr>
            <a:r>
              <a:rPr b="1" lang="en" sz="1110">
                <a:solidFill>
                  <a:srgbClr val="004B87"/>
                </a:solidFill>
                <a:latin typeface="Inter"/>
                <a:ea typeface="Inter"/>
                <a:cs typeface="Inter"/>
                <a:sym typeface="Inter"/>
              </a:rPr>
              <a:t>Seasonality:</a:t>
            </a:r>
            <a:r>
              <a:rPr b="0" lang="en" sz="111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Monthly analysis reveals a clear seasonal pattern, with November experiencing the highest average daily rainfall at ~11.45 mm.</a:t>
            </a:r>
            <a:endParaRPr b="0" sz="111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0" name="Google Shape;90;p16"/>
          <p:cNvCxnSpPr/>
          <p:nvPr/>
        </p:nvCxnSpPr>
        <p:spPr>
          <a:xfrm>
            <a:off x="476250" y="2571750"/>
            <a:ext cx="81915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1" name="Google Shape;91;p16"/>
          <p:cNvGrpSpPr/>
          <p:nvPr/>
        </p:nvGrpSpPr>
        <p:grpSpPr>
          <a:xfrm>
            <a:off x="476250" y="2714625"/>
            <a:ext cx="3810000" cy="1695600"/>
            <a:chOff x="476250" y="2714625"/>
            <a:chExt cx="3810000" cy="1695600"/>
          </a:xfrm>
        </p:grpSpPr>
        <p:sp>
          <p:nvSpPr>
            <p:cNvPr id="92" name="Google Shape;92;p16"/>
            <p:cNvSpPr txBox="1"/>
            <p:nvPr/>
          </p:nvSpPr>
          <p:spPr>
            <a:xfrm>
              <a:off x="476250" y="2714625"/>
              <a:ext cx="3810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A556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Key Meteorological Variables Analyzed</a:t>
              </a:r>
              <a:endParaRPr b="0" sz="1100">
                <a:solidFill>
                  <a:srgbClr val="4A556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93" name="Google Shape;93;p16"/>
            <p:cNvGrpSpPr/>
            <p:nvPr/>
          </p:nvGrpSpPr>
          <p:grpSpPr>
            <a:xfrm>
              <a:off x="476250" y="3095625"/>
              <a:ext cx="1714500" cy="362100"/>
              <a:chOff x="0" y="0"/>
              <a:chExt cx="1714500" cy="362100"/>
            </a:xfrm>
          </p:grpSpPr>
          <p:sp>
            <p:nvSpPr>
              <p:cNvPr id="94" name="Google Shape;94;p16"/>
              <p:cNvSpPr/>
              <p:nvPr/>
            </p:nvSpPr>
            <p:spPr>
              <a:xfrm>
                <a:off x="0" y="0"/>
                <a:ext cx="1714500" cy="362100"/>
              </a:xfrm>
              <a:prstGeom prst="roundRect">
                <a:avLst>
                  <a:gd fmla="val 15789" name="adj"/>
                </a:avLst>
              </a:prstGeom>
              <a:solidFill>
                <a:srgbClr val="F7F9FA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16"/>
              <p:cNvSpPr txBox="1"/>
              <p:nvPr/>
            </p:nvSpPr>
            <p:spPr>
              <a:xfrm>
                <a:off x="114300" y="0"/>
                <a:ext cx="14859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50">
                    <a:solidFill>
                      <a:srgbClr val="111111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Pressure</a:t>
                </a:r>
                <a:endParaRPr b="0" sz="11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96" name="Google Shape;96;p16"/>
            <p:cNvGrpSpPr/>
            <p:nvPr/>
          </p:nvGrpSpPr>
          <p:grpSpPr>
            <a:xfrm>
              <a:off x="2333625" y="3095625"/>
              <a:ext cx="1714500" cy="362100"/>
              <a:chOff x="0" y="0"/>
              <a:chExt cx="1714500" cy="362100"/>
            </a:xfrm>
          </p:grpSpPr>
          <p:sp>
            <p:nvSpPr>
              <p:cNvPr id="97" name="Google Shape;97;p16"/>
              <p:cNvSpPr/>
              <p:nvPr/>
            </p:nvSpPr>
            <p:spPr>
              <a:xfrm>
                <a:off x="0" y="0"/>
                <a:ext cx="1714500" cy="362100"/>
              </a:xfrm>
              <a:prstGeom prst="roundRect">
                <a:avLst>
                  <a:gd fmla="val 15789" name="adj"/>
                </a:avLst>
              </a:prstGeom>
              <a:solidFill>
                <a:srgbClr val="F7F9FA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6"/>
              <p:cNvSpPr txBox="1"/>
              <p:nvPr/>
            </p:nvSpPr>
            <p:spPr>
              <a:xfrm>
                <a:off x="114300" y="0"/>
                <a:ext cx="14859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50">
                    <a:solidFill>
                      <a:srgbClr val="111111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Specific Humidity</a:t>
                </a:r>
                <a:endParaRPr b="0" sz="11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99" name="Google Shape;99;p16"/>
            <p:cNvGrpSpPr/>
            <p:nvPr/>
          </p:nvGrpSpPr>
          <p:grpSpPr>
            <a:xfrm>
              <a:off x="476250" y="3571875"/>
              <a:ext cx="1714500" cy="362100"/>
              <a:chOff x="0" y="0"/>
              <a:chExt cx="1714500" cy="362100"/>
            </a:xfrm>
          </p:grpSpPr>
          <p:sp>
            <p:nvSpPr>
              <p:cNvPr id="100" name="Google Shape;100;p16"/>
              <p:cNvSpPr/>
              <p:nvPr/>
            </p:nvSpPr>
            <p:spPr>
              <a:xfrm>
                <a:off x="0" y="0"/>
                <a:ext cx="1714500" cy="362100"/>
              </a:xfrm>
              <a:prstGeom prst="roundRect">
                <a:avLst>
                  <a:gd fmla="val 15789" name="adj"/>
                </a:avLst>
              </a:prstGeom>
              <a:solidFill>
                <a:srgbClr val="F7F9FA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16"/>
              <p:cNvSpPr txBox="1"/>
              <p:nvPr/>
            </p:nvSpPr>
            <p:spPr>
              <a:xfrm>
                <a:off x="114300" y="0"/>
                <a:ext cx="14859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50">
                    <a:solidFill>
                      <a:srgbClr val="111111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Cloud Amount</a:t>
                </a:r>
                <a:endParaRPr b="0" sz="11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102" name="Google Shape;102;p16"/>
            <p:cNvGrpSpPr/>
            <p:nvPr/>
          </p:nvGrpSpPr>
          <p:grpSpPr>
            <a:xfrm>
              <a:off x="2333625" y="3571875"/>
              <a:ext cx="1714500" cy="362100"/>
              <a:chOff x="0" y="0"/>
              <a:chExt cx="1714500" cy="362100"/>
            </a:xfrm>
          </p:grpSpPr>
          <p:sp>
            <p:nvSpPr>
              <p:cNvPr id="103" name="Google Shape;103;p16"/>
              <p:cNvSpPr/>
              <p:nvPr/>
            </p:nvSpPr>
            <p:spPr>
              <a:xfrm>
                <a:off x="0" y="0"/>
                <a:ext cx="1714500" cy="362100"/>
              </a:xfrm>
              <a:prstGeom prst="roundRect">
                <a:avLst>
                  <a:gd fmla="val 15789" name="adj"/>
                </a:avLst>
              </a:prstGeom>
              <a:solidFill>
                <a:srgbClr val="F7F9FA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16"/>
              <p:cNvSpPr txBox="1"/>
              <p:nvPr/>
            </p:nvSpPr>
            <p:spPr>
              <a:xfrm>
                <a:off x="114300" y="0"/>
                <a:ext cx="14859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50">
                    <a:solidFill>
                      <a:srgbClr val="111111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Wind Direction</a:t>
                </a:r>
                <a:endParaRPr b="0" sz="11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105" name="Google Shape;105;p16"/>
            <p:cNvGrpSpPr/>
            <p:nvPr/>
          </p:nvGrpSpPr>
          <p:grpSpPr>
            <a:xfrm>
              <a:off x="476250" y="4048125"/>
              <a:ext cx="1714500" cy="362100"/>
              <a:chOff x="0" y="0"/>
              <a:chExt cx="1714500" cy="362100"/>
            </a:xfrm>
          </p:grpSpPr>
          <p:sp>
            <p:nvSpPr>
              <p:cNvPr id="106" name="Google Shape;106;p16"/>
              <p:cNvSpPr/>
              <p:nvPr/>
            </p:nvSpPr>
            <p:spPr>
              <a:xfrm>
                <a:off x="0" y="0"/>
                <a:ext cx="1714500" cy="362100"/>
              </a:xfrm>
              <a:prstGeom prst="roundRect">
                <a:avLst>
                  <a:gd fmla="val 15789" name="adj"/>
                </a:avLst>
              </a:prstGeom>
              <a:solidFill>
                <a:srgbClr val="F7F9FA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16"/>
              <p:cNvSpPr txBox="1"/>
              <p:nvPr/>
            </p:nvSpPr>
            <p:spPr>
              <a:xfrm>
                <a:off x="114300" y="0"/>
                <a:ext cx="14859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50">
                    <a:solidFill>
                      <a:srgbClr val="111111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Dew Point</a:t>
                </a:r>
                <a:endParaRPr b="0" sz="11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</p:grpSp>
      <p:grpSp>
        <p:nvGrpSpPr>
          <p:cNvPr id="108" name="Google Shape;108;p16"/>
          <p:cNvGrpSpPr/>
          <p:nvPr/>
        </p:nvGrpSpPr>
        <p:grpSpPr>
          <a:xfrm>
            <a:off x="4572000" y="2714625"/>
            <a:ext cx="4095900" cy="2047800"/>
            <a:chOff x="0" y="0"/>
            <a:chExt cx="4095900" cy="2047800"/>
          </a:xfrm>
        </p:grpSpPr>
        <p:sp>
          <p:nvSpPr>
            <p:cNvPr id="109" name="Google Shape;109;p16"/>
            <p:cNvSpPr/>
            <p:nvPr/>
          </p:nvSpPr>
          <p:spPr>
            <a:xfrm>
              <a:off x="0" y="0"/>
              <a:ext cx="4095900" cy="2047800"/>
            </a:xfrm>
            <a:prstGeom prst="roundRect">
              <a:avLst>
                <a:gd fmla="val 372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0" name="Google Shape;110;p16"/>
            <p:cNvPicPr preferRelativeResize="0"/>
            <p:nvPr/>
          </p:nvPicPr>
          <p:blipFill rotWithShape="1">
            <a:blip r:embed="rId4">
              <a:alphaModFix/>
            </a:blip>
            <a:srcRect b="0" l="30" r="30" t="0"/>
            <a:stretch/>
          </p:blipFill>
          <p:spPr>
            <a:xfrm>
              <a:off x="47625" y="28575"/>
              <a:ext cx="4000500" cy="1981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" name="Google Shape;117;p17"/>
          <p:cNvGrpSpPr/>
          <p:nvPr/>
        </p:nvGrpSpPr>
        <p:grpSpPr>
          <a:xfrm>
            <a:off x="476250" y="285750"/>
            <a:ext cx="8191500" cy="85800"/>
            <a:chOff x="476250" y="285750"/>
            <a:chExt cx="8191500" cy="85800"/>
          </a:xfrm>
        </p:grpSpPr>
        <p:sp>
          <p:nvSpPr>
            <p:cNvPr id="118" name="Google Shape;118;p17"/>
            <p:cNvSpPr/>
            <p:nvPr/>
          </p:nvSpPr>
          <p:spPr>
            <a:xfrm>
              <a:off x="476250" y="285750"/>
              <a:ext cx="8191500" cy="381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476250" y="361950"/>
              <a:ext cx="1143000" cy="9600"/>
            </a:xfrm>
            <a:prstGeom prst="rect">
              <a:avLst/>
            </a:prstGeom>
            <a:solidFill>
              <a:srgbClr val="4A556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" name="Google Shape;120;p17"/>
          <p:cNvSpPr txBox="1"/>
          <p:nvPr/>
        </p:nvSpPr>
        <p:spPr>
          <a:xfrm>
            <a:off x="476250" y="523875"/>
            <a:ext cx="8191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25">
                <a:solidFill>
                  <a:srgbClr val="4A556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METHODOLOGY WORKFLOW</a:t>
            </a:r>
            <a:endParaRPr b="0" sz="925">
              <a:solidFill>
                <a:srgbClr val="4A556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Two-Stage Modelling</a:t>
            </a:r>
            <a:endParaRPr b="1" sz="185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203">
                <a:solidFill>
                  <a:srgbClr val="004B87"/>
                </a:solidFill>
                <a:latin typeface="Inter Medium"/>
                <a:ea typeface="Inter Medium"/>
                <a:cs typeface="Inter Medium"/>
                <a:sym typeface="Inter Medium"/>
              </a:rPr>
              <a:t>Separates Rainfall Occurrence from Rainfall Amount</a:t>
            </a:r>
            <a:endParaRPr b="0" sz="1203">
              <a:solidFill>
                <a:srgbClr val="004B87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cxnSp>
        <p:nvCxnSpPr>
          <p:cNvPr id="121" name="Google Shape;121;p17"/>
          <p:cNvCxnSpPr/>
          <p:nvPr/>
        </p:nvCxnSpPr>
        <p:spPr>
          <a:xfrm>
            <a:off x="476250" y="1285875"/>
            <a:ext cx="81915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2" name="Google Shape;122;p17"/>
          <p:cNvGrpSpPr/>
          <p:nvPr/>
        </p:nvGrpSpPr>
        <p:grpSpPr>
          <a:xfrm>
            <a:off x="523875" y="1590675"/>
            <a:ext cx="8096250" cy="2886075"/>
            <a:chOff x="47625" y="19050"/>
            <a:chExt cx="8096250" cy="2886075"/>
          </a:xfrm>
        </p:grpSpPr>
        <p:cxnSp>
          <p:nvCxnSpPr>
            <p:cNvPr id="123" name="Google Shape;123;p17"/>
            <p:cNvCxnSpPr/>
            <p:nvPr/>
          </p:nvCxnSpPr>
          <p:spPr>
            <a:xfrm>
              <a:off x="1285875" y="190500"/>
              <a:ext cx="56199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04B87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24" name="Google Shape;124;p17"/>
            <p:cNvGrpSpPr/>
            <p:nvPr/>
          </p:nvGrpSpPr>
          <p:grpSpPr>
            <a:xfrm>
              <a:off x="47625" y="19050"/>
              <a:ext cx="2476500" cy="2886075"/>
              <a:chOff x="47625" y="19050"/>
              <a:chExt cx="2476500" cy="2886075"/>
            </a:xfrm>
          </p:grpSpPr>
          <p:sp>
            <p:nvSpPr>
              <p:cNvPr id="125" name="Google Shape;125;p17"/>
              <p:cNvSpPr/>
              <p:nvPr/>
            </p:nvSpPr>
            <p:spPr>
              <a:xfrm>
                <a:off x="1114425" y="19050"/>
                <a:ext cx="342900" cy="342900"/>
              </a:xfrm>
              <a:prstGeom prst="ellipse">
                <a:avLst/>
              </a:prstGeom>
              <a:solidFill>
                <a:srgbClr val="004B8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17"/>
              <p:cNvSpPr txBox="1"/>
              <p:nvPr/>
            </p:nvSpPr>
            <p:spPr>
              <a:xfrm>
                <a:off x="1114425" y="19050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01</a:t>
                </a:r>
                <a:endParaRPr b="1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7" name="Google Shape;127;p17"/>
              <p:cNvSpPr/>
              <p:nvPr/>
            </p:nvSpPr>
            <p:spPr>
              <a:xfrm>
                <a:off x="47625" y="428625"/>
                <a:ext cx="2476500" cy="2476500"/>
              </a:xfrm>
              <a:prstGeom prst="rect">
                <a:avLst/>
              </a:prstGeom>
              <a:solidFill>
                <a:srgbClr val="F7F9FA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17"/>
              <p:cNvSpPr txBox="1"/>
              <p:nvPr/>
            </p:nvSpPr>
            <p:spPr>
              <a:xfrm>
                <a:off x="142875" y="523875"/>
                <a:ext cx="2286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004B8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01 / PREPARATION</a:t>
                </a:r>
                <a:endParaRPr b="0" sz="850">
                  <a:solidFill>
                    <a:srgbClr val="004B8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Prepare Trustworthy Data</a:t>
                </a:r>
                <a:endParaRPr b="1" sz="12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The workflow begins by validating the 15 variables. It creates calendar, lag, and rolling-rainfall features utilizing past days only to ensure leakage-safe features.</a:t>
                </a:r>
                <a:endParaRPr b="0" sz="10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The output is a clean 3,653-row table. Training covers the period from 2015 to 2022.</a:t>
                </a:r>
                <a:endParaRPr b="0" sz="95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29" name="Google Shape;129;p17"/>
            <p:cNvGrpSpPr/>
            <p:nvPr/>
          </p:nvGrpSpPr>
          <p:grpSpPr>
            <a:xfrm>
              <a:off x="2857500" y="19050"/>
              <a:ext cx="2476500" cy="2886075"/>
              <a:chOff x="47625" y="19050"/>
              <a:chExt cx="2476500" cy="2886075"/>
            </a:xfrm>
          </p:grpSpPr>
          <p:sp>
            <p:nvSpPr>
              <p:cNvPr id="130" name="Google Shape;130;p17"/>
              <p:cNvSpPr/>
              <p:nvPr/>
            </p:nvSpPr>
            <p:spPr>
              <a:xfrm>
                <a:off x="1114425" y="19050"/>
                <a:ext cx="342900" cy="342900"/>
              </a:xfrm>
              <a:prstGeom prst="ellipse">
                <a:avLst/>
              </a:prstGeom>
              <a:solidFill>
                <a:srgbClr val="004B8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17"/>
              <p:cNvSpPr txBox="1"/>
              <p:nvPr/>
            </p:nvSpPr>
            <p:spPr>
              <a:xfrm>
                <a:off x="1114425" y="19050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02</a:t>
                </a:r>
                <a:endParaRPr b="1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2" name="Google Shape;132;p17"/>
              <p:cNvSpPr/>
              <p:nvPr/>
            </p:nvSpPr>
            <p:spPr>
              <a:xfrm>
                <a:off x="47625" y="428625"/>
                <a:ext cx="2476500" cy="2476500"/>
              </a:xfrm>
              <a:prstGeom prst="rect">
                <a:avLst/>
              </a:prstGeom>
              <a:solidFill>
                <a:srgbClr val="F7F9FA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17"/>
              <p:cNvSpPr txBox="1"/>
              <p:nvPr/>
            </p:nvSpPr>
            <p:spPr>
              <a:xfrm>
                <a:off x="142875" y="523875"/>
                <a:ext cx="2286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004B8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02 / EVALUATION</a:t>
                </a:r>
                <a:endParaRPr b="0" sz="850">
                  <a:solidFill>
                    <a:srgbClr val="004B8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Primary Regression</a:t>
                </a:r>
                <a:endParaRPr b="1" sz="12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The main solution compares Linear Regression, Random Forest, and Gradient Boosting models on the chronological 2023–2024 test set.</a:t>
                </a:r>
                <a:endParaRPr b="0" sz="10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The output provides rainfall estimates and residuals for error and variance analysis.</a:t>
                </a:r>
                <a:endParaRPr b="0" sz="95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34" name="Google Shape;134;p17"/>
            <p:cNvGrpSpPr/>
            <p:nvPr/>
          </p:nvGrpSpPr>
          <p:grpSpPr>
            <a:xfrm>
              <a:off x="5667375" y="19050"/>
              <a:ext cx="2476500" cy="2886075"/>
              <a:chOff x="47625" y="19050"/>
              <a:chExt cx="2476500" cy="2886075"/>
            </a:xfrm>
          </p:grpSpPr>
          <p:sp>
            <p:nvSpPr>
              <p:cNvPr id="135" name="Google Shape;135;p17"/>
              <p:cNvSpPr/>
              <p:nvPr/>
            </p:nvSpPr>
            <p:spPr>
              <a:xfrm>
                <a:off x="1114425" y="19050"/>
                <a:ext cx="342900" cy="342900"/>
              </a:xfrm>
              <a:prstGeom prst="ellipse">
                <a:avLst/>
              </a:prstGeom>
              <a:solidFill>
                <a:srgbClr val="004B8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17"/>
              <p:cNvSpPr txBox="1"/>
              <p:nvPr/>
            </p:nvSpPr>
            <p:spPr>
              <a:xfrm>
                <a:off x="1114425" y="19050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03</a:t>
                </a:r>
                <a:endParaRPr b="1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7" name="Google Shape;137;p17"/>
              <p:cNvSpPr/>
              <p:nvPr/>
            </p:nvSpPr>
            <p:spPr>
              <a:xfrm>
                <a:off x="47625" y="428625"/>
                <a:ext cx="2476500" cy="2476500"/>
              </a:xfrm>
              <a:prstGeom prst="rect">
                <a:avLst/>
              </a:prstGeom>
              <a:solidFill>
                <a:srgbClr val="F7F9FA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17"/>
              <p:cNvSpPr txBox="1"/>
              <p:nvPr/>
            </p:nvSpPr>
            <p:spPr>
              <a:xfrm>
                <a:off x="142875" y="523875"/>
                <a:ext cx="2286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004B8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03 / TWO-STAGE EXTENSION</a:t>
                </a:r>
                <a:endParaRPr b="0" sz="850">
                  <a:solidFill>
                    <a:srgbClr val="004B8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Rainfall Occurrence &amp; Amount</a:t>
                </a:r>
                <a:endParaRPr b="1" sz="12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The extension separates the question of whether it rains from the amount. It first classifies rain of ≥1 mm. If detected, it estimates the amount using conditional regression.</a:t>
                </a:r>
                <a:endParaRPr b="0" sz="10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The output includes a validated confusion matrix and the estimated rainfall amount.</a:t>
                </a:r>
                <a:endParaRPr b="0" sz="95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4" name="Google Shape;144;p18"/>
          <p:cNvGrpSpPr/>
          <p:nvPr/>
        </p:nvGrpSpPr>
        <p:grpSpPr>
          <a:xfrm>
            <a:off x="476250" y="285750"/>
            <a:ext cx="8191500" cy="85800"/>
            <a:chOff x="476250" y="285750"/>
            <a:chExt cx="8191500" cy="85800"/>
          </a:xfrm>
        </p:grpSpPr>
        <p:sp>
          <p:nvSpPr>
            <p:cNvPr id="145" name="Google Shape;145;p18"/>
            <p:cNvSpPr/>
            <p:nvPr/>
          </p:nvSpPr>
          <p:spPr>
            <a:xfrm>
              <a:off x="476250" y="285750"/>
              <a:ext cx="8191500" cy="381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8"/>
            <p:cNvSpPr/>
            <p:nvPr/>
          </p:nvSpPr>
          <p:spPr>
            <a:xfrm>
              <a:off x="476250" y="361950"/>
              <a:ext cx="1143000" cy="9600"/>
            </a:xfrm>
            <a:prstGeom prst="rect">
              <a:avLst/>
            </a:prstGeom>
            <a:solidFill>
              <a:srgbClr val="4A556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" name="Google Shape;147;p18"/>
          <p:cNvSpPr txBox="1"/>
          <p:nvPr/>
        </p:nvSpPr>
        <p:spPr>
          <a:xfrm>
            <a:off x="476250" y="523875"/>
            <a:ext cx="81915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Gradient Boosting is the strongest main model.</a:t>
            </a:r>
            <a:endParaRPr b="1" sz="26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476250" y="1095375"/>
            <a:ext cx="4572000" cy="180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90">
                <a:solidFill>
                  <a:srgbClr val="004B87"/>
                </a:solidFill>
                <a:latin typeface="Inter"/>
                <a:ea typeface="Inter"/>
                <a:cs typeface="Inter"/>
                <a:sym typeface="Inter"/>
              </a:rPr>
              <a:t>Chronological Evaluation</a:t>
            </a:r>
            <a:endParaRPr b="1" i="0" sz="1190">
              <a:solidFill>
                <a:srgbClr val="004B8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165" lvl="0" marL="457200" rtl="0" algn="l">
              <a:spcBef>
                <a:spcPts val="400"/>
              </a:spcBef>
              <a:spcAft>
                <a:spcPts val="0"/>
              </a:spcAft>
              <a:buClr>
                <a:srgbClr val="004B87"/>
              </a:buClr>
              <a:buSzPts val="1190"/>
              <a:buFont typeface="Inter"/>
              <a:buChar char="●"/>
            </a:pPr>
            <a:r>
              <a:rPr b="0" i="0" lang="en" sz="8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Achieved a mean absolute error (MAE) of 2.756 mm on unseen 2023–2024 data.</a:t>
            </a:r>
            <a:endParaRPr b="1" i="0" sz="1190">
              <a:solidFill>
                <a:srgbClr val="004B8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165" lvl="0" marL="457200" rtl="0" algn="l">
              <a:spcBef>
                <a:spcPts val="300"/>
              </a:spcBef>
              <a:spcAft>
                <a:spcPts val="0"/>
              </a:spcAft>
              <a:buClr>
                <a:srgbClr val="004B87"/>
              </a:buClr>
              <a:buSzPts val="1190"/>
              <a:buFont typeface="Inter"/>
              <a:buChar char="●"/>
            </a:pPr>
            <a:r>
              <a:rPr b="0" i="0" lang="en" sz="8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Root Mean Squared Error (RMSE) is 6.602 mm, and the R² value is 0.524.</a:t>
            </a:r>
            <a:endParaRPr b="1" i="0" sz="1190">
              <a:solidFill>
                <a:srgbClr val="004B8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" sz="935">
                <a:solidFill>
                  <a:srgbClr val="004B87"/>
                </a:solidFill>
                <a:latin typeface="Inter"/>
                <a:ea typeface="Inter"/>
                <a:cs typeface="Inter"/>
                <a:sym typeface="Inter"/>
              </a:rPr>
              <a:t>Why it remains the main model</a:t>
            </a:r>
            <a:endParaRPr b="1" i="0" sz="935">
              <a:solidFill>
                <a:srgbClr val="004B8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165" lvl="0" marL="457200" rtl="0" algn="l">
              <a:spcBef>
                <a:spcPts val="400"/>
              </a:spcBef>
              <a:spcAft>
                <a:spcPts val="0"/>
              </a:spcAft>
              <a:buClr>
                <a:srgbClr val="004B87"/>
              </a:buClr>
              <a:buSzPts val="1190"/>
              <a:buFont typeface="Inter"/>
              <a:buChar char="●"/>
            </a:pPr>
            <a:r>
              <a:rPr b="0" i="0" lang="en" sz="8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Demonstrated the best MAE among the three evaluated regressors.</a:t>
            </a:r>
            <a:endParaRPr b="1" i="0" sz="1190">
              <a:solidFill>
                <a:srgbClr val="004B8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165" lvl="0" marL="457200" rtl="0" algn="l">
              <a:spcBef>
                <a:spcPts val="300"/>
              </a:spcBef>
              <a:spcAft>
                <a:spcPts val="0"/>
              </a:spcAft>
              <a:buClr>
                <a:srgbClr val="004B87"/>
              </a:buClr>
              <a:buSzPts val="1190"/>
              <a:buFont typeface="Inter"/>
              <a:buChar char="●"/>
            </a:pPr>
            <a:r>
              <a:rPr b="0" i="0" lang="en" sz="8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Possesses the appropriate complexity for the module.</a:t>
            </a:r>
            <a:endParaRPr b="1" i="0" sz="1190">
              <a:solidFill>
                <a:srgbClr val="004B8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165" lvl="0" marL="457200" rtl="0" algn="l">
              <a:spcBef>
                <a:spcPts val="300"/>
              </a:spcBef>
              <a:spcAft>
                <a:spcPts val="0"/>
              </a:spcAft>
              <a:buClr>
                <a:srgbClr val="004B87"/>
              </a:buClr>
              <a:buSzPts val="1190"/>
              <a:buFont typeface="Inter"/>
              <a:buChar char="●"/>
            </a:pPr>
            <a:r>
              <a:rPr b="0" i="0" lang="en" sz="8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Evaluates rain occurrence separately and estimates amount via conditional regression on rainy days.</a:t>
            </a:r>
            <a:endParaRPr b="1" i="0" sz="1190">
              <a:solidFill>
                <a:srgbClr val="004B8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49" name="Google Shape;149;p18"/>
          <p:cNvGrpSpPr/>
          <p:nvPr/>
        </p:nvGrpSpPr>
        <p:grpSpPr>
          <a:xfrm>
            <a:off x="5334000" y="1143000"/>
            <a:ext cx="3333900" cy="3238500"/>
            <a:chOff x="5334000" y="1143000"/>
            <a:chExt cx="3333900" cy="3238500"/>
          </a:xfrm>
        </p:grpSpPr>
        <p:grpSp>
          <p:nvGrpSpPr>
            <p:cNvPr id="150" name="Google Shape;150;p18"/>
            <p:cNvGrpSpPr/>
            <p:nvPr/>
          </p:nvGrpSpPr>
          <p:grpSpPr>
            <a:xfrm>
              <a:off x="5334000" y="1143000"/>
              <a:ext cx="3333900" cy="952500"/>
              <a:chOff x="0" y="0"/>
              <a:chExt cx="3333900" cy="952500"/>
            </a:xfrm>
          </p:grpSpPr>
          <p:sp>
            <p:nvSpPr>
              <p:cNvPr id="151" name="Google Shape;151;p18"/>
              <p:cNvSpPr/>
              <p:nvPr/>
            </p:nvSpPr>
            <p:spPr>
              <a:xfrm>
                <a:off x="0" y="0"/>
                <a:ext cx="3333900" cy="952500"/>
              </a:xfrm>
              <a:prstGeom prst="rect">
                <a:avLst/>
              </a:prstGeom>
              <a:solidFill>
                <a:srgbClr val="F7F9FA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8"/>
              <p:cNvSpPr/>
              <p:nvPr/>
            </p:nvSpPr>
            <p:spPr>
              <a:xfrm>
                <a:off x="0" y="0"/>
                <a:ext cx="38100" cy="952500"/>
              </a:xfrm>
              <a:prstGeom prst="rect">
                <a:avLst/>
              </a:prstGeom>
              <a:solidFill>
                <a:srgbClr val="004B8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8"/>
              <p:cNvSpPr txBox="1"/>
              <p:nvPr/>
            </p:nvSpPr>
            <p:spPr>
              <a:xfrm>
                <a:off x="190500" y="142875"/>
                <a:ext cx="2952900" cy="666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900">
                    <a:solidFill>
                      <a:srgbClr val="4A556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MEAN ABSOLUTE ERROR (MAE)</a:t>
                </a:r>
                <a:endParaRPr b="0" i="0" sz="900">
                  <a:solidFill>
                    <a:srgbClr val="4A556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1" i="0" lang="en" sz="2600">
                    <a:solidFill>
                      <a:srgbClr val="004B87"/>
                    </a:solidFill>
                    <a:latin typeface="Inter"/>
                    <a:ea typeface="Inter"/>
                    <a:cs typeface="Inter"/>
                    <a:sym typeface="Inter"/>
                  </a:rPr>
                  <a:t>2.756 mm</a:t>
                </a:r>
                <a:endParaRPr b="0" i="0" sz="900">
                  <a:solidFill>
                    <a:srgbClr val="4A556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54" name="Google Shape;154;p18"/>
            <p:cNvGrpSpPr/>
            <p:nvPr/>
          </p:nvGrpSpPr>
          <p:grpSpPr>
            <a:xfrm>
              <a:off x="5334000" y="2286000"/>
              <a:ext cx="3333900" cy="952500"/>
              <a:chOff x="0" y="0"/>
              <a:chExt cx="3333900" cy="952500"/>
            </a:xfrm>
          </p:grpSpPr>
          <p:sp>
            <p:nvSpPr>
              <p:cNvPr id="155" name="Google Shape;155;p18"/>
              <p:cNvSpPr/>
              <p:nvPr/>
            </p:nvSpPr>
            <p:spPr>
              <a:xfrm>
                <a:off x="0" y="0"/>
                <a:ext cx="3333900" cy="952500"/>
              </a:xfrm>
              <a:prstGeom prst="rect">
                <a:avLst/>
              </a:prstGeom>
              <a:solidFill>
                <a:srgbClr val="F7F9FA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8"/>
              <p:cNvSpPr/>
              <p:nvPr/>
            </p:nvSpPr>
            <p:spPr>
              <a:xfrm>
                <a:off x="0" y="0"/>
                <a:ext cx="38100" cy="952500"/>
              </a:xfrm>
              <a:prstGeom prst="rect">
                <a:avLst/>
              </a:prstGeom>
              <a:solidFill>
                <a:srgbClr val="004B8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8"/>
              <p:cNvSpPr txBox="1"/>
              <p:nvPr/>
            </p:nvSpPr>
            <p:spPr>
              <a:xfrm>
                <a:off x="190500" y="142875"/>
                <a:ext cx="2952900" cy="666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900">
                    <a:solidFill>
                      <a:srgbClr val="4A556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ROOT MEAN SQUARED ERROR (RMSE)</a:t>
                </a:r>
                <a:endParaRPr b="0" i="0" sz="900">
                  <a:solidFill>
                    <a:srgbClr val="4A556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1" i="0" lang="en" sz="2600">
                    <a:solidFill>
                      <a:srgbClr val="004B87"/>
                    </a:solidFill>
                    <a:latin typeface="Inter"/>
                    <a:ea typeface="Inter"/>
                    <a:cs typeface="Inter"/>
                    <a:sym typeface="Inter"/>
                  </a:rPr>
                  <a:t>6.602 mm</a:t>
                </a:r>
                <a:endParaRPr b="0" i="0" sz="900">
                  <a:solidFill>
                    <a:srgbClr val="4A556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58" name="Google Shape;158;p18"/>
            <p:cNvGrpSpPr/>
            <p:nvPr/>
          </p:nvGrpSpPr>
          <p:grpSpPr>
            <a:xfrm>
              <a:off x="5334000" y="3429000"/>
              <a:ext cx="3333900" cy="952500"/>
              <a:chOff x="0" y="0"/>
              <a:chExt cx="3333900" cy="952500"/>
            </a:xfrm>
          </p:grpSpPr>
          <p:sp>
            <p:nvSpPr>
              <p:cNvPr id="159" name="Google Shape;159;p18"/>
              <p:cNvSpPr/>
              <p:nvPr/>
            </p:nvSpPr>
            <p:spPr>
              <a:xfrm>
                <a:off x="0" y="0"/>
                <a:ext cx="3333900" cy="952500"/>
              </a:xfrm>
              <a:prstGeom prst="rect">
                <a:avLst/>
              </a:prstGeom>
              <a:solidFill>
                <a:srgbClr val="F7F9FA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18"/>
              <p:cNvSpPr/>
              <p:nvPr/>
            </p:nvSpPr>
            <p:spPr>
              <a:xfrm>
                <a:off x="0" y="0"/>
                <a:ext cx="38100" cy="952500"/>
              </a:xfrm>
              <a:prstGeom prst="rect">
                <a:avLst/>
              </a:prstGeom>
              <a:solidFill>
                <a:srgbClr val="004B8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8"/>
              <p:cNvSpPr txBox="1"/>
              <p:nvPr/>
            </p:nvSpPr>
            <p:spPr>
              <a:xfrm>
                <a:off x="190500" y="142875"/>
                <a:ext cx="2952900" cy="666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900">
                    <a:solidFill>
                      <a:srgbClr val="4A556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COEFFICIENT OF DETERMINATION (R²)</a:t>
                </a:r>
                <a:endParaRPr b="0" i="0" sz="900">
                  <a:solidFill>
                    <a:srgbClr val="4A556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1" i="0" lang="en" sz="2600">
                    <a:solidFill>
                      <a:srgbClr val="004B87"/>
                    </a:solidFill>
                    <a:latin typeface="Inter"/>
                    <a:ea typeface="Inter"/>
                    <a:cs typeface="Inter"/>
                    <a:sym typeface="Inter"/>
                  </a:rPr>
                  <a:t>0.524</a:t>
                </a:r>
                <a:endParaRPr b="0" i="0" sz="900">
                  <a:solidFill>
                    <a:srgbClr val="4A556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pic>
        <p:nvPicPr>
          <p:cNvPr id="162" name="Google Shape;162;p18"/>
          <p:cNvPicPr preferRelativeResize="0"/>
          <p:nvPr/>
        </p:nvPicPr>
        <p:blipFill rotWithShape="1">
          <a:blip r:embed="rId3">
            <a:alphaModFix/>
          </a:blip>
          <a:srcRect b="0" l="60" r="60" t="0"/>
          <a:stretch/>
        </p:blipFill>
        <p:spPr>
          <a:xfrm>
            <a:off x="476250" y="2952750"/>
            <a:ext cx="4572000" cy="18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9" name="Google Shape;169;p19"/>
          <p:cNvGrpSpPr/>
          <p:nvPr/>
        </p:nvGrpSpPr>
        <p:grpSpPr>
          <a:xfrm>
            <a:off x="476250" y="285750"/>
            <a:ext cx="8191500" cy="85800"/>
            <a:chOff x="476250" y="285750"/>
            <a:chExt cx="8191500" cy="85800"/>
          </a:xfrm>
        </p:grpSpPr>
        <p:sp>
          <p:nvSpPr>
            <p:cNvPr id="170" name="Google Shape;170;p19"/>
            <p:cNvSpPr/>
            <p:nvPr/>
          </p:nvSpPr>
          <p:spPr>
            <a:xfrm>
              <a:off x="476250" y="285750"/>
              <a:ext cx="8191500" cy="381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9"/>
            <p:cNvSpPr/>
            <p:nvPr/>
          </p:nvSpPr>
          <p:spPr>
            <a:xfrm>
              <a:off x="476250" y="361950"/>
              <a:ext cx="1143000" cy="9600"/>
            </a:xfrm>
            <a:prstGeom prst="rect">
              <a:avLst/>
            </a:prstGeom>
            <a:solidFill>
              <a:srgbClr val="4A556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72" name="Google Shape;17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7238" y="1143000"/>
            <a:ext cx="9600" cy="339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476250" y="523875"/>
            <a:ext cx="8191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Rainfall Detection &amp; Estimation Performance</a:t>
            </a:r>
            <a:endParaRPr b="1" sz="22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Evaluation of the two-stage model over 731 test days reveals </a:t>
            </a:r>
            <a:r>
              <a:rPr b="1" lang="en" sz="11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86.2% classification accuracy</a:t>
            </a:r>
            <a:endParaRPr b="1" sz="110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762000" y="1447800"/>
            <a:ext cx="2362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4A556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PREDICTED CLASS</a:t>
            </a:r>
            <a:endParaRPr b="0" sz="800">
              <a:solidFill>
                <a:srgbClr val="4A556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762000" y="1619250"/>
            <a:ext cx="1181100" cy="17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4A556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DRY / TRACE</a:t>
            </a:r>
            <a:endParaRPr b="0" sz="800">
              <a:solidFill>
                <a:srgbClr val="4A556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1943100" y="1619250"/>
            <a:ext cx="1181100" cy="17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4A556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RAINY</a:t>
            </a:r>
            <a:endParaRPr b="0" sz="800">
              <a:solidFill>
                <a:srgbClr val="4A556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 rot="-5400000">
            <a:off x="-952500" y="2647950"/>
            <a:ext cx="285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4A556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ACTUAL CLASS</a:t>
            </a:r>
            <a:endParaRPr b="0" sz="800">
              <a:solidFill>
                <a:srgbClr val="4A556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178" name="Google Shape;178;p19"/>
          <p:cNvGrpSpPr/>
          <p:nvPr/>
        </p:nvGrpSpPr>
        <p:grpSpPr>
          <a:xfrm>
            <a:off x="762000" y="1828800"/>
            <a:ext cx="2362200" cy="1771743"/>
            <a:chOff x="0" y="0"/>
            <a:chExt cx="3810000" cy="2857650"/>
          </a:xfrm>
        </p:grpSpPr>
        <p:sp>
          <p:nvSpPr>
            <p:cNvPr id="179" name="Google Shape;179;p19"/>
            <p:cNvSpPr/>
            <p:nvPr/>
          </p:nvSpPr>
          <p:spPr>
            <a:xfrm>
              <a:off x="0" y="0"/>
              <a:ext cx="38100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0" name="Google Shape;180;p19"/>
            <p:cNvCxnSpPr/>
            <p:nvPr/>
          </p:nvCxnSpPr>
          <p:spPr>
            <a:xfrm>
              <a:off x="1905000" y="0"/>
              <a:ext cx="0" cy="28575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" name="Google Shape;181;p19"/>
            <p:cNvCxnSpPr/>
            <p:nvPr/>
          </p:nvCxnSpPr>
          <p:spPr>
            <a:xfrm>
              <a:off x="0" y="1428750"/>
              <a:ext cx="38100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82" name="Google Shape;182;p19"/>
            <p:cNvGrpSpPr/>
            <p:nvPr/>
          </p:nvGrpSpPr>
          <p:grpSpPr>
            <a:xfrm>
              <a:off x="0" y="0"/>
              <a:ext cx="1905000" cy="1428900"/>
              <a:chOff x="0" y="0"/>
              <a:chExt cx="1905000" cy="1428900"/>
            </a:xfrm>
          </p:grpSpPr>
          <p:sp>
            <p:nvSpPr>
              <p:cNvPr id="183" name="Google Shape;183;p19"/>
              <p:cNvSpPr/>
              <p:nvPr/>
            </p:nvSpPr>
            <p:spPr>
              <a:xfrm>
                <a:off x="0" y="0"/>
                <a:ext cx="1905000" cy="1428900"/>
              </a:xfrm>
              <a:prstGeom prst="rect">
                <a:avLst/>
              </a:prstGeom>
              <a:solidFill>
                <a:srgbClr val="F7F9F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9"/>
              <p:cNvSpPr txBox="1"/>
              <p:nvPr/>
            </p:nvSpPr>
            <p:spPr>
              <a:xfrm>
                <a:off x="95250" y="142875"/>
                <a:ext cx="1714500" cy="1143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560">
                    <a:solidFill>
                      <a:srgbClr val="4A556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TRUE NEGATIVE</a:t>
                </a:r>
                <a:endParaRPr b="0" sz="560">
                  <a:solidFill>
                    <a:srgbClr val="4A556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" sz="2240">
                    <a:solidFill>
                      <a:srgbClr val="004B87"/>
                    </a:solidFill>
                    <a:latin typeface="Inter"/>
                    <a:ea typeface="Inter"/>
                    <a:cs typeface="Inter"/>
                    <a:sym typeface="Inter"/>
                  </a:rPr>
                  <a:t>335</a:t>
                </a:r>
                <a:endParaRPr b="0" sz="560">
                  <a:solidFill>
                    <a:srgbClr val="4A556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b="0" lang="en" sz="63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Correct Dry/Trace Days</a:t>
                </a:r>
                <a:endParaRPr b="0" sz="560">
                  <a:solidFill>
                    <a:srgbClr val="4A556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sp>
          <p:nvSpPr>
            <p:cNvPr id="185" name="Google Shape;185;p19"/>
            <p:cNvSpPr txBox="1"/>
            <p:nvPr/>
          </p:nvSpPr>
          <p:spPr>
            <a:xfrm>
              <a:off x="2000250" y="142875"/>
              <a:ext cx="17145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560">
                  <a:solidFill>
                    <a:srgbClr val="C5303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FALSE POSITIVE</a:t>
              </a:r>
              <a:endParaRPr b="0" sz="560">
                <a:solidFill>
                  <a:srgbClr val="C5303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2240">
                  <a:solidFill>
                    <a:srgbClr val="C53030"/>
                  </a:solidFill>
                  <a:latin typeface="Inter"/>
                  <a:ea typeface="Inter"/>
                  <a:cs typeface="Inter"/>
                  <a:sym typeface="Inter"/>
                </a:rPr>
                <a:t>54</a:t>
              </a:r>
              <a:endParaRPr b="0" sz="560">
                <a:solidFill>
                  <a:srgbClr val="C5303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" sz="630">
                  <a:solidFill>
                    <a:srgbClr val="C53030"/>
                  </a:solidFill>
                  <a:latin typeface="Inter"/>
                  <a:ea typeface="Inter"/>
                  <a:cs typeface="Inter"/>
                  <a:sym typeface="Inter"/>
                </a:rPr>
                <a:t>False Rain Alerts</a:t>
              </a:r>
              <a:endParaRPr b="0" sz="560">
                <a:solidFill>
                  <a:srgbClr val="C5303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86" name="Google Shape;186;p19"/>
            <p:cNvSpPr txBox="1"/>
            <p:nvPr/>
          </p:nvSpPr>
          <p:spPr>
            <a:xfrm>
              <a:off x="95250" y="1571625"/>
              <a:ext cx="17145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560">
                  <a:solidFill>
                    <a:srgbClr val="C5303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FALSE NEGATIVE</a:t>
              </a:r>
              <a:endParaRPr b="0" sz="560">
                <a:solidFill>
                  <a:srgbClr val="C5303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2240">
                  <a:solidFill>
                    <a:srgbClr val="C53030"/>
                  </a:solidFill>
                  <a:latin typeface="Inter"/>
                  <a:ea typeface="Inter"/>
                  <a:cs typeface="Inter"/>
                  <a:sym typeface="Inter"/>
                </a:rPr>
                <a:t>47</a:t>
              </a:r>
              <a:endParaRPr b="0" sz="560">
                <a:solidFill>
                  <a:srgbClr val="C5303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" sz="630">
                  <a:solidFill>
                    <a:srgbClr val="C53030"/>
                  </a:solidFill>
                  <a:latin typeface="Inter"/>
                  <a:ea typeface="Inter"/>
                  <a:cs typeface="Inter"/>
                  <a:sym typeface="Inter"/>
                </a:rPr>
                <a:t>Missed Rainy Days</a:t>
              </a:r>
              <a:endParaRPr b="0" sz="560">
                <a:solidFill>
                  <a:srgbClr val="C5303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187" name="Google Shape;187;p19"/>
            <p:cNvGrpSpPr/>
            <p:nvPr/>
          </p:nvGrpSpPr>
          <p:grpSpPr>
            <a:xfrm>
              <a:off x="1905000" y="1428750"/>
              <a:ext cx="1905000" cy="1428900"/>
              <a:chOff x="0" y="0"/>
              <a:chExt cx="1905000" cy="1428900"/>
            </a:xfrm>
          </p:grpSpPr>
          <p:sp>
            <p:nvSpPr>
              <p:cNvPr id="188" name="Google Shape;188;p19"/>
              <p:cNvSpPr/>
              <p:nvPr/>
            </p:nvSpPr>
            <p:spPr>
              <a:xfrm>
                <a:off x="0" y="0"/>
                <a:ext cx="1905000" cy="1428900"/>
              </a:xfrm>
              <a:prstGeom prst="rect">
                <a:avLst/>
              </a:prstGeom>
              <a:solidFill>
                <a:srgbClr val="F7F9F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19"/>
              <p:cNvSpPr txBox="1"/>
              <p:nvPr/>
            </p:nvSpPr>
            <p:spPr>
              <a:xfrm>
                <a:off x="95250" y="142875"/>
                <a:ext cx="1714500" cy="1143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560">
                    <a:solidFill>
                      <a:srgbClr val="4A556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TRUE POSITIVE</a:t>
                </a:r>
                <a:endParaRPr b="0" sz="560">
                  <a:solidFill>
                    <a:srgbClr val="4A556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" sz="2240">
                    <a:solidFill>
                      <a:srgbClr val="004B87"/>
                    </a:solidFill>
                    <a:latin typeface="Inter"/>
                    <a:ea typeface="Inter"/>
                    <a:cs typeface="Inter"/>
                    <a:sym typeface="Inter"/>
                  </a:rPr>
                  <a:t>295</a:t>
                </a:r>
                <a:endParaRPr b="0" sz="560">
                  <a:solidFill>
                    <a:srgbClr val="4A556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b="0" lang="en" sz="63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Correct Rainy Days</a:t>
                </a:r>
                <a:endParaRPr b="0" sz="560">
                  <a:solidFill>
                    <a:srgbClr val="4A556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sp>
        <p:nvSpPr>
          <p:cNvPr id="190" name="Google Shape;190;p19"/>
          <p:cNvSpPr/>
          <p:nvPr/>
        </p:nvSpPr>
        <p:spPr>
          <a:xfrm>
            <a:off x="5715000" y="1333500"/>
            <a:ext cx="1476300" cy="192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5715000" y="1447800"/>
            <a:ext cx="1476300" cy="309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004B87"/>
                </a:solidFill>
                <a:latin typeface="Inter Medium"/>
                <a:ea typeface="Inter Medium"/>
                <a:cs typeface="Inter Medium"/>
                <a:sym typeface="Inter Medium"/>
              </a:rPr>
              <a:t>Rain Classification</a:t>
            </a:r>
            <a:endParaRPr b="0" sz="1200">
              <a:solidFill>
                <a:srgbClr val="004B87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4A556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PRECISION</a:t>
            </a:r>
            <a:endParaRPr b="0" sz="800">
              <a:solidFill>
                <a:srgbClr val="4A556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4B87"/>
                </a:solidFill>
                <a:latin typeface="Inter"/>
                <a:ea typeface="Inter"/>
                <a:cs typeface="Inter"/>
                <a:sym typeface="Inter"/>
              </a:rPr>
              <a:t>0.845</a:t>
            </a:r>
            <a:endParaRPr b="0" sz="1200">
              <a:solidFill>
                <a:srgbClr val="004B87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85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Positive predictive value</a:t>
            </a:r>
            <a:endParaRPr b="0" sz="85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4A556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RECALL</a:t>
            </a:r>
            <a:endParaRPr b="0" sz="800">
              <a:solidFill>
                <a:srgbClr val="4A556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4B87"/>
                </a:solidFill>
                <a:latin typeface="Inter"/>
                <a:ea typeface="Inter"/>
                <a:cs typeface="Inter"/>
                <a:sym typeface="Inter"/>
              </a:rPr>
              <a:t>0.863</a:t>
            </a:r>
            <a:endParaRPr b="0" sz="1200">
              <a:solidFill>
                <a:srgbClr val="004B87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85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Sensitivity of detection</a:t>
            </a:r>
            <a:endParaRPr b="0" sz="85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4A556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F1-SCORE</a:t>
            </a:r>
            <a:endParaRPr b="0" sz="800">
              <a:solidFill>
                <a:srgbClr val="4A556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4B87"/>
                </a:solidFill>
                <a:latin typeface="Inter"/>
                <a:ea typeface="Inter"/>
                <a:cs typeface="Inter"/>
                <a:sym typeface="Inter"/>
              </a:rPr>
              <a:t>0.854</a:t>
            </a:r>
            <a:endParaRPr b="0" sz="1200">
              <a:solidFill>
                <a:srgbClr val="004B87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85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Harmonic mean measure</a:t>
            </a:r>
            <a:endParaRPr b="0" sz="85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7381875" y="1333500"/>
            <a:ext cx="1476300" cy="192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7381875" y="1447800"/>
            <a:ext cx="1476300" cy="309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004B87"/>
                </a:solidFill>
                <a:latin typeface="Inter Medium"/>
                <a:ea typeface="Inter Medium"/>
                <a:cs typeface="Inter Medium"/>
                <a:sym typeface="Inter Medium"/>
              </a:rPr>
              <a:t>Amount Estimation</a:t>
            </a:r>
            <a:endParaRPr b="0" sz="1200">
              <a:solidFill>
                <a:srgbClr val="004B87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4A556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MEAN ABSOLUTE ERROR</a:t>
            </a:r>
            <a:endParaRPr b="0" sz="800">
              <a:solidFill>
                <a:srgbClr val="4A556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4B87"/>
                </a:solidFill>
                <a:latin typeface="Inter"/>
                <a:ea typeface="Inter"/>
                <a:cs typeface="Inter"/>
                <a:sym typeface="Inter"/>
              </a:rPr>
              <a:t>2.754 </a:t>
            </a:r>
            <a:r>
              <a:rPr b="0" lang="en" sz="1100">
                <a:solidFill>
                  <a:srgbClr val="4A5568"/>
                </a:solidFill>
                <a:latin typeface="Inter Medium"/>
                <a:ea typeface="Inter Medium"/>
                <a:cs typeface="Inter Medium"/>
                <a:sym typeface="Inter Medium"/>
              </a:rPr>
              <a:t>mm</a:t>
            </a:r>
            <a:endParaRPr b="0" sz="1200">
              <a:solidFill>
                <a:srgbClr val="004B87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85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Average deviation amount</a:t>
            </a:r>
            <a:endParaRPr b="0" sz="85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4A556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R² COEFFICIENT</a:t>
            </a:r>
            <a:endParaRPr b="0" sz="800">
              <a:solidFill>
                <a:srgbClr val="4A556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4B87"/>
                </a:solidFill>
                <a:latin typeface="Inter"/>
                <a:ea typeface="Inter"/>
                <a:cs typeface="Inter"/>
                <a:sym typeface="Inter"/>
              </a:rPr>
              <a:t>0.530</a:t>
            </a:r>
            <a:endParaRPr b="0" sz="1200">
              <a:solidFill>
                <a:srgbClr val="004B87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85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Goodness-of-fit metric</a:t>
            </a:r>
            <a:endParaRPr b="0" sz="85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1" lang="en" sz="8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Regression metrics are conditional on true positive occurrences.</a:t>
            </a:r>
            <a:endParaRPr b="0" i="1" sz="80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94" name="Google Shape;194;p19"/>
          <p:cNvPicPr preferRelativeResize="0"/>
          <p:nvPr/>
        </p:nvPicPr>
        <p:blipFill rotWithShape="1">
          <a:blip r:embed="rId5">
            <a:alphaModFix/>
          </a:blip>
          <a:srcRect b="0" l="0" r="0" t="10"/>
          <a:stretch/>
        </p:blipFill>
        <p:spPr>
          <a:xfrm>
            <a:off x="3238500" y="1638300"/>
            <a:ext cx="2286000" cy="201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0" name="Google Shape;200;p20"/>
          <p:cNvGrpSpPr/>
          <p:nvPr/>
        </p:nvGrpSpPr>
        <p:grpSpPr>
          <a:xfrm>
            <a:off x="476250" y="285750"/>
            <a:ext cx="8191500" cy="85800"/>
            <a:chOff x="476250" y="285750"/>
            <a:chExt cx="8191500" cy="85800"/>
          </a:xfrm>
        </p:grpSpPr>
        <p:sp>
          <p:nvSpPr>
            <p:cNvPr id="201" name="Google Shape;201;p20"/>
            <p:cNvSpPr/>
            <p:nvPr/>
          </p:nvSpPr>
          <p:spPr>
            <a:xfrm>
              <a:off x="476250" y="285750"/>
              <a:ext cx="8191500" cy="381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0"/>
            <p:cNvSpPr/>
            <p:nvPr/>
          </p:nvSpPr>
          <p:spPr>
            <a:xfrm>
              <a:off x="476250" y="361950"/>
              <a:ext cx="1143000" cy="9600"/>
            </a:xfrm>
            <a:prstGeom prst="rect">
              <a:avLst/>
            </a:prstGeom>
            <a:solidFill>
              <a:srgbClr val="4A556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3" name="Google Shape;203;p20"/>
          <p:cNvGrpSpPr/>
          <p:nvPr/>
        </p:nvGrpSpPr>
        <p:grpSpPr>
          <a:xfrm>
            <a:off x="476250" y="1047750"/>
            <a:ext cx="8191650" cy="3619500"/>
            <a:chOff x="476250" y="1047750"/>
            <a:chExt cx="8191650" cy="3619500"/>
          </a:xfrm>
        </p:grpSpPr>
        <p:sp>
          <p:nvSpPr>
            <p:cNvPr id="204" name="Google Shape;204;p20"/>
            <p:cNvSpPr/>
            <p:nvPr/>
          </p:nvSpPr>
          <p:spPr>
            <a:xfrm>
              <a:off x="476250" y="1047750"/>
              <a:ext cx="3905400" cy="3619500"/>
            </a:xfrm>
            <a:prstGeom prst="rect">
              <a:avLst/>
            </a:prstGeom>
            <a:solidFill>
              <a:srgbClr val="F7F9FA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0"/>
            <p:cNvSpPr/>
            <p:nvPr/>
          </p:nvSpPr>
          <p:spPr>
            <a:xfrm>
              <a:off x="476250" y="1047750"/>
              <a:ext cx="38100" cy="36195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0"/>
            <p:cNvSpPr/>
            <p:nvPr/>
          </p:nvSpPr>
          <p:spPr>
            <a:xfrm>
              <a:off x="4572000" y="1047750"/>
              <a:ext cx="4095900" cy="1714500"/>
            </a:xfrm>
            <a:prstGeom prst="rect">
              <a:avLst/>
            </a:prstGeom>
            <a:solidFill>
              <a:srgbClr val="F7F9FA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0"/>
            <p:cNvSpPr/>
            <p:nvPr/>
          </p:nvSpPr>
          <p:spPr>
            <a:xfrm>
              <a:off x="4572000" y="1047750"/>
              <a:ext cx="38100" cy="17145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0"/>
            <p:cNvSpPr/>
            <p:nvPr/>
          </p:nvSpPr>
          <p:spPr>
            <a:xfrm>
              <a:off x="4572000" y="2952750"/>
              <a:ext cx="4095900" cy="1714500"/>
            </a:xfrm>
            <a:prstGeom prst="rect">
              <a:avLst/>
            </a:prstGeom>
            <a:solidFill>
              <a:srgbClr val="F7F9FA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0"/>
            <p:cNvSpPr/>
            <p:nvPr/>
          </p:nvSpPr>
          <p:spPr>
            <a:xfrm>
              <a:off x="4572000" y="2952750"/>
              <a:ext cx="38100" cy="17145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10" name="Google Shape;21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7238" y="1143000"/>
            <a:ext cx="9600" cy="339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/>
          <p:cNvPicPr preferRelativeResize="0"/>
          <p:nvPr/>
        </p:nvPicPr>
        <p:blipFill rotWithShape="1">
          <a:blip r:embed="rId5">
            <a:alphaModFix/>
          </a:blip>
          <a:srcRect b="0" l="10524" r="10524" t="0"/>
          <a:stretch/>
        </p:blipFill>
        <p:spPr>
          <a:xfrm>
            <a:off x="666750" y="1190625"/>
            <a:ext cx="3524400" cy="333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476250" y="495300"/>
            <a:ext cx="819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Additional Charts Explain Model Behaviour</a:t>
            </a:r>
            <a:endParaRPr b="1" sz="24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3" name="Google Shape;213;p20"/>
          <p:cNvPicPr preferRelativeResize="0"/>
          <p:nvPr/>
        </p:nvPicPr>
        <p:blipFill rotWithShape="1">
          <a:blip r:embed="rId6">
            <a:alphaModFix/>
          </a:blip>
          <a:srcRect b="9377" l="0" r="0" t="9369"/>
          <a:stretch/>
        </p:blipFill>
        <p:spPr>
          <a:xfrm>
            <a:off x="4810125" y="1095375"/>
            <a:ext cx="3619500" cy="16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0"/>
          <p:cNvPicPr preferRelativeResize="0"/>
          <p:nvPr/>
        </p:nvPicPr>
        <p:blipFill rotWithShape="1">
          <a:blip r:embed="rId7">
            <a:alphaModFix/>
          </a:blip>
          <a:srcRect b="2723" l="0" r="0" t="2732"/>
          <a:stretch/>
        </p:blipFill>
        <p:spPr>
          <a:xfrm>
            <a:off x="4714875" y="3000375"/>
            <a:ext cx="3810000" cy="16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0" name="Google Shape;220;p21"/>
          <p:cNvGrpSpPr/>
          <p:nvPr/>
        </p:nvGrpSpPr>
        <p:grpSpPr>
          <a:xfrm>
            <a:off x="476250" y="285750"/>
            <a:ext cx="8191500" cy="85800"/>
            <a:chOff x="476250" y="285750"/>
            <a:chExt cx="8191500" cy="85800"/>
          </a:xfrm>
        </p:grpSpPr>
        <p:sp>
          <p:nvSpPr>
            <p:cNvPr id="221" name="Google Shape;221;p21"/>
            <p:cNvSpPr/>
            <p:nvPr/>
          </p:nvSpPr>
          <p:spPr>
            <a:xfrm>
              <a:off x="476250" y="285750"/>
              <a:ext cx="8191500" cy="381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1"/>
            <p:cNvSpPr/>
            <p:nvPr/>
          </p:nvSpPr>
          <p:spPr>
            <a:xfrm>
              <a:off x="476250" y="361950"/>
              <a:ext cx="1143000" cy="9600"/>
            </a:xfrm>
            <a:prstGeom prst="rect">
              <a:avLst/>
            </a:prstGeom>
            <a:solidFill>
              <a:srgbClr val="4A556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3" name="Google Shape;223;p21"/>
          <p:cNvSpPr txBox="1"/>
          <p:nvPr/>
        </p:nvSpPr>
        <p:spPr>
          <a:xfrm>
            <a:off x="476250" y="457200"/>
            <a:ext cx="8191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Extreme rainfall remains the model’s main limitation.</a:t>
            </a:r>
            <a:endParaRPr b="1" sz="20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24" name="Google Shape;224;p21"/>
          <p:cNvGrpSpPr/>
          <p:nvPr/>
        </p:nvGrpSpPr>
        <p:grpSpPr>
          <a:xfrm>
            <a:off x="476250" y="3381375"/>
            <a:ext cx="8191500" cy="1095300"/>
            <a:chOff x="0" y="0"/>
            <a:chExt cx="8191500" cy="1095300"/>
          </a:xfrm>
        </p:grpSpPr>
        <p:sp>
          <p:nvSpPr>
            <p:cNvPr id="225" name="Google Shape;225;p21"/>
            <p:cNvSpPr/>
            <p:nvPr/>
          </p:nvSpPr>
          <p:spPr>
            <a:xfrm>
              <a:off x="0" y="0"/>
              <a:ext cx="8191500" cy="1095300"/>
            </a:xfrm>
            <a:prstGeom prst="rect">
              <a:avLst/>
            </a:prstGeom>
            <a:solidFill>
              <a:srgbClr val="F7F9FA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1"/>
            <p:cNvSpPr/>
            <p:nvPr/>
          </p:nvSpPr>
          <p:spPr>
            <a:xfrm>
              <a:off x="0" y="0"/>
              <a:ext cx="57300" cy="1095300"/>
            </a:xfrm>
            <a:prstGeom prst="rect">
              <a:avLst/>
            </a:prstGeom>
            <a:solidFill>
              <a:srgbClr val="C5303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1"/>
            <p:cNvSpPr txBox="1"/>
            <p:nvPr/>
          </p:nvSpPr>
          <p:spPr>
            <a:xfrm>
              <a:off x="238125" y="142875"/>
              <a:ext cx="77154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C53030"/>
                  </a:solidFill>
                  <a:latin typeface="Inter"/>
                  <a:ea typeface="Inter"/>
                  <a:cs typeface="Inter"/>
                  <a:sym typeface="Inter"/>
                </a:rPr>
                <a:t>Practical Conclusion:</a:t>
              </a:r>
              <a:endParaRPr b="1" sz="1000">
                <a:solidFill>
                  <a:srgbClr val="C5303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The project is highly useful for historical analysis and current-day estimation. </a:t>
              </a:r>
              <a:r>
                <a:rPr b="0" lang="en" sz="1050">
                  <a:solidFill>
                    <a:srgbClr val="004B8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 key limitation is that NASA POWER provides gridded data, not direct station data, meaning heavy rainfall needs further work.</a:t>
              </a:r>
              <a:endParaRPr b="1" sz="1000">
                <a:solidFill>
                  <a:srgbClr val="C5303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28" name="Google Shape;228;p21"/>
          <p:cNvPicPr preferRelativeResize="0"/>
          <p:nvPr/>
        </p:nvPicPr>
        <p:blipFill rotWithShape="1">
          <a:blip r:embed="rId4">
            <a:alphaModFix/>
          </a:blip>
          <a:srcRect b="0" l="0" r="0" t="10"/>
          <a:stretch/>
        </p:blipFill>
        <p:spPr>
          <a:xfrm>
            <a:off x="4762500" y="1047750"/>
            <a:ext cx="3905400" cy="2149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9" name="Google Shape;229;p21"/>
          <p:cNvGrpSpPr/>
          <p:nvPr/>
        </p:nvGrpSpPr>
        <p:grpSpPr>
          <a:xfrm>
            <a:off x="476250" y="1047750"/>
            <a:ext cx="6095925" cy="2190675"/>
            <a:chOff x="476250" y="1047750"/>
            <a:chExt cx="6095925" cy="2190675"/>
          </a:xfrm>
        </p:grpSpPr>
        <p:grpSp>
          <p:nvGrpSpPr>
            <p:cNvPr id="230" name="Google Shape;230;p21"/>
            <p:cNvGrpSpPr/>
            <p:nvPr/>
          </p:nvGrpSpPr>
          <p:grpSpPr>
            <a:xfrm>
              <a:off x="476250" y="1047750"/>
              <a:ext cx="3952800" cy="2190675"/>
              <a:chOff x="0" y="0"/>
              <a:chExt cx="3952800" cy="2190675"/>
            </a:xfrm>
          </p:grpSpPr>
          <p:sp>
            <p:nvSpPr>
              <p:cNvPr id="231" name="Google Shape;231;p21"/>
              <p:cNvSpPr/>
              <p:nvPr/>
            </p:nvSpPr>
            <p:spPr>
              <a:xfrm>
                <a:off x="0" y="0"/>
                <a:ext cx="3952800" cy="19200"/>
              </a:xfrm>
              <a:prstGeom prst="rect">
                <a:avLst/>
              </a:prstGeom>
              <a:solidFill>
                <a:srgbClr val="004B8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21"/>
              <p:cNvSpPr txBox="1"/>
              <p:nvPr/>
            </p:nvSpPr>
            <p:spPr>
              <a:xfrm>
                <a:off x="0" y="142875"/>
                <a:ext cx="2000100" cy="2047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04B87"/>
                    </a:solidFill>
                    <a:latin typeface="Inter"/>
                    <a:ea typeface="Inter"/>
                    <a:cs typeface="Inter"/>
                    <a:sym typeface="Inter"/>
                  </a:rPr>
                  <a:t>What the errors show:</a:t>
                </a:r>
                <a:endParaRPr b="1" sz="1300">
                  <a:solidFill>
                    <a:srgbClr val="004B8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210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111111"/>
                  </a:buClr>
                  <a:buSzPts val="1000"/>
                  <a:buFont typeface="Inter"/>
                  <a:buChar char="●"/>
                </a:pPr>
                <a:r>
                  <a:rPr b="0" lang="en" sz="10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Residuals concentrate near zero on low-rainfall days.</a:t>
                </a:r>
                <a:endParaRPr b="0" sz="10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2100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111111"/>
                  </a:buClr>
                  <a:buSzPts val="1000"/>
                  <a:buFont typeface="Inter"/>
                  <a:buChar char="●"/>
                </a:pPr>
                <a:r>
                  <a:rPr b="0" lang="en" sz="10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Rare heavy events create much larger errors, showing difficulty with extremes.</a:t>
                </a:r>
                <a:endParaRPr b="0" sz="10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2100" lvl="0" marL="457200" rtl="0" algn="l">
                  <a:spcBef>
                    <a:spcPts val="450"/>
                  </a:spcBef>
                  <a:spcAft>
                    <a:spcPts val="450"/>
                  </a:spcAft>
                  <a:buClr>
                    <a:srgbClr val="111111"/>
                  </a:buClr>
                  <a:buSzPts val="1000"/>
                  <a:buFont typeface="Inter"/>
                  <a:buChar char="●"/>
                </a:pPr>
                <a:r>
                  <a:rPr b="0" lang="en" sz="10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Functions as an estimator rather than an operational forecast.</a:t>
                </a:r>
                <a:endParaRPr b="0" sz="10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33" name="Google Shape;233;p21"/>
            <p:cNvGrpSpPr/>
            <p:nvPr/>
          </p:nvGrpSpPr>
          <p:grpSpPr>
            <a:xfrm>
              <a:off x="2619375" y="1047750"/>
              <a:ext cx="3952800" cy="2190675"/>
              <a:chOff x="0" y="0"/>
              <a:chExt cx="3952800" cy="2190675"/>
            </a:xfrm>
          </p:grpSpPr>
          <p:sp>
            <p:nvSpPr>
              <p:cNvPr id="234" name="Google Shape;234;p21"/>
              <p:cNvSpPr/>
              <p:nvPr/>
            </p:nvSpPr>
            <p:spPr>
              <a:xfrm>
                <a:off x="0" y="0"/>
                <a:ext cx="3952800" cy="19200"/>
              </a:xfrm>
              <a:prstGeom prst="rect">
                <a:avLst/>
              </a:prstGeom>
              <a:solidFill>
                <a:srgbClr val="004B8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21"/>
              <p:cNvSpPr txBox="1"/>
              <p:nvPr/>
            </p:nvSpPr>
            <p:spPr>
              <a:xfrm>
                <a:off x="0" y="142875"/>
                <a:ext cx="2000100" cy="2047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04B87"/>
                    </a:solidFill>
                    <a:latin typeface="Inter"/>
                    <a:ea typeface="Inter"/>
                    <a:cs typeface="Inter"/>
                    <a:sym typeface="Inter"/>
                  </a:rPr>
                  <a:t>Future Improvements:</a:t>
                </a:r>
                <a:endParaRPr b="1" sz="1300">
                  <a:solidFill>
                    <a:srgbClr val="004B8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210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111111"/>
                  </a:buClr>
                  <a:buSzPts val="1000"/>
                  <a:buFont typeface="Inter"/>
                  <a:buChar char="●"/>
                </a:pPr>
                <a:r>
                  <a:rPr b="0" lang="en" sz="10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Utilize verified rainfall measurements from local weather stations.</a:t>
                </a:r>
                <a:endParaRPr b="0" sz="10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2100" lvl="0" marL="457200" rtl="0" algn="l">
                  <a:spcBef>
                    <a:spcPts val="450"/>
                  </a:spcBef>
                  <a:spcAft>
                    <a:spcPts val="450"/>
                  </a:spcAft>
                  <a:buClr>
                    <a:srgbClr val="111111"/>
                  </a:buClr>
                  <a:buSzPts val="1000"/>
                  <a:buFont typeface="Inter"/>
                  <a:buChar char="●"/>
                </a:pPr>
                <a:r>
                  <a:rPr b="0" lang="en" sz="10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Integrate real weather forecast data for genuine predictive capability.</a:t>
                </a:r>
                <a:endParaRPr b="0" sz="10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oogle Shape;240;p22"/>
          <p:cNvGrpSpPr/>
          <p:nvPr/>
        </p:nvGrpSpPr>
        <p:grpSpPr>
          <a:xfrm>
            <a:off x="476250" y="285750"/>
            <a:ext cx="8191500" cy="85800"/>
            <a:chOff x="476250" y="285750"/>
            <a:chExt cx="8191500" cy="85800"/>
          </a:xfrm>
        </p:grpSpPr>
        <p:sp>
          <p:nvSpPr>
            <p:cNvPr id="241" name="Google Shape;241;p22"/>
            <p:cNvSpPr/>
            <p:nvPr/>
          </p:nvSpPr>
          <p:spPr>
            <a:xfrm>
              <a:off x="476250" y="285750"/>
              <a:ext cx="8191500" cy="381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2"/>
            <p:cNvSpPr/>
            <p:nvPr/>
          </p:nvSpPr>
          <p:spPr>
            <a:xfrm>
              <a:off x="476250" y="361950"/>
              <a:ext cx="1143000" cy="9600"/>
            </a:xfrm>
            <a:prstGeom prst="rect">
              <a:avLst/>
            </a:prstGeom>
            <a:solidFill>
              <a:srgbClr val="4A556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3" name="Google Shape;243;p22"/>
          <p:cNvSpPr txBox="1"/>
          <p:nvPr/>
        </p:nvSpPr>
        <p:spPr>
          <a:xfrm>
            <a:off x="476250" y="495300"/>
            <a:ext cx="81915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Data Sources &amp; Acknowledgements</a:t>
            </a:r>
            <a:endParaRPr b="1" sz="26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44" name="Google Shape;244;p22"/>
          <p:cNvGrpSpPr/>
          <p:nvPr/>
        </p:nvGrpSpPr>
        <p:grpSpPr>
          <a:xfrm>
            <a:off x="476250" y="1190625"/>
            <a:ext cx="3952800" cy="3476775"/>
            <a:chOff x="0" y="0"/>
            <a:chExt cx="3952800" cy="3476775"/>
          </a:xfrm>
        </p:grpSpPr>
        <p:sp>
          <p:nvSpPr>
            <p:cNvPr id="245" name="Google Shape;245;p22"/>
            <p:cNvSpPr/>
            <p:nvPr/>
          </p:nvSpPr>
          <p:spPr>
            <a:xfrm>
              <a:off x="0" y="0"/>
              <a:ext cx="3952800" cy="192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2"/>
            <p:cNvSpPr txBox="1"/>
            <p:nvPr/>
          </p:nvSpPr>
          <p:spPr>
            <a:xfrm>
              <a:off x="0" y="142875"/>
              <a:ext cx="3952800" cy="3333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04B8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Data Source &amp; Documentation</a:t>
              </a:r>
              <a:endParaRPr b="0" sz="1500">
                <a:solidFill>
                  <a:srgbClr val="004B8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4B87"/>
                  </a:solidFill>
                  <a:latin typeface="Inter"/>
                  <a:ea typeface="Inter"/>
                  <a:cs typeface="Inter"/>
                  <a:sym typeface="Inter"/>
                </a:rPr>
                <a:t>[1]</a:t>
              </a:r>
              <a:r>
                <a:rPr b="0" lang="en" sz="10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NASA POWER Project Daily API documentation</a:t>
              </a:r>
              <a:br>
                <a:rPr b="0" lang="en" sz="10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850" u="sng">
                  <a:solidFill>
                    <a:srgbClr val="004B87"/>
                  </a:solidFill>
                  <a:latin typeface="Inter"/>
                  <a:ea typeface="Inter"/>
                  <a:cs typeface="Inter"/>
                  <a:sym typeface="Inter"/>
                </a:rPr>
                <a:t>power.larc.nasa.gov/docs/services/api/temporal/daily/</a:t>
              </a:r>
              <a:endParaRPr b="0" sz="1000">
                <a:solidFill>
                  <a:srgbClr val="004B8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4B87"/>
                  </a:solidFill>
                  <a:latin typeface="Inter"/>
                  <a:ea typeface="Inter"/>
                  <a:cs typeface="Inter"/>
                  <a:sym typeface="Inter"/>
                </a:rPr>
                <a:t>[2]</a:t>
              </a:r>
              <a:r>
                <a:rPr b="0" lang="en" sz="10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NASA POWER Project Parameter dictionary</a:t>
              </a:r>
              <a:br>
                <a:rPr b="0" lang="en" sz="10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850" u="sng">
                  <a:solidFill>
                    <a:srgbClr val="004B87"/>
                  </a:solidFill>
                  <a:latin typeface="Inter"/>
                  <a:ea typeface="Inter"/>
                  <a:cs typeface="Inter"/>
                  <a:sym typeface="Inter"/>
                </a:rPr>
                <a:t>power.larc.nasa.gov/parameters/</a:t>
              </a:r>
              <a:endParaRPr b="0" sz="1000">
                <a:solidFill>
                  <a:srgbClr val="004B8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04B8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Data Request &amp; Context</a:t>
              </a:r>
              <a:endParaRPr b="0" sz="1500">
                <a:solidFill>
                  <a:srgbClr val="004B8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4B87"/>
                  </a:solidFill>
                  <a:latin typeface="Inter"/>
                  <a:ea typeface="Inter"/>
                  <a:cs typeface="Inter"/>
                  <a:sym typeface="Inter"/>
                </a:rPr>
                <a:t>[3]</a:t>
              </a:r>
              <a:r>
                <a:rPr b="0" lang="en" sz="10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NASA POWER dataset request (Anuradhapura · 2015–2024 · AG community)</a:t>
              </a:r>
              <a:br>
                <a:rPr b="0" lang="en" sz="10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800" u="sng">
                  <a:solidFill>
                    <a:srgbClr val="004B87"/>
                  </a:solidFill>
                  <a:latin typeface="Inter"/>
                  <a:ea typeface="Inter"/>
                  <a:cs typeface="Inter"/>
                  <a:sym typeface="Inter"/>
                </a:rPr>
                <a:t>power.larc.nasa.gov/api/...format=CSV</a:t>
              </a:r>
              <a:endParaRPr b="0" sz="1000">
                <a:solidFill>
                  <a:srgbClr val="004B8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4B87"/>
                  </a:solidFill>
                  <a:latin typeface="Inter"/>
                  <a:ea typeface="Inter"/>
                  <a:cs typeface="Inter"/>
                  <a:sym typeface="Inter"/>
                </a:rPr>
                <a:t>[4]</a:t>
              </a:r>
              <a:r>
                <a:rPr b="0" lang="en" sz="10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Department of Census and Statistics, Sri Lanka (Area and climate information)</a:t>
              </a:r>
              <a:br>
                <a:rPr b="0" lang="en" sz="10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850" u="sng">
                  <a:solidFill>
                    <a:srgbClr val="004B87"/>
                  </a:solidFill>
                  <a:latin typeface="Inter"/>
                  <a:ea typeface="Inter"/>
                  <a:cs typeface="Inter"/>
                  <a:sym typeface="Inter"/>
                </a:rPr>
                <a:t>statistics.gov.lk/abstract2024/chapter1</a:t>
              </a:r>
              <a:endParaRPr b="0" sz="1000">
                <a:solidFill>
                  <a:srgbClr val="004B8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247" name="Google Shape;247;p22"/>
          <p:cNvGrpSpPr/>
          <p:nvPr/>
        </p:nvGrpSpPr>
        <p:grpSpPr>
          <a:xfrm>
            <a:off x="4714875" y="1190625"/>
            <a:ext cx="3952800" cy="3333900"/>
            <a:chOff x="0" y="0"/>
            <a:chExt cx="3952800" cy="3333900"/>
          </a:xfrm>
        </p:grpSpPr>
        <p:sp>
          <p:nvSpPr>
            <p:cNvPr id="248" name="Google Shape;248;p22"/>
            <p:cNvSpPr/>
            <p:nvPr/>
          </p:nvSpPr>
          <p:spPr>
            <a:xfrm>
              <a:off x="0" y="0"/>
              <a:ext cx="3952800" cy="192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2"/>
            <p:cNvSpPr txBox="1"/>
            <p:nvPr/>
          </p:nvSpPr>
          <p:spPr>
            <a:xfrm>
              <a:off x="0" y="142875"/>
              <a:ext cx="3952800" cy="20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04B8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Model Documentation</a:t>
              </a:r>
              <a:endParaRPr b="0" sz="1500">
                <a:solidFill>
                  <a:srgbClr val="004B8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4B87"/>
                  </a:solidFill>
                  <a:latin typeface="Inter"/>
                  <a:ea typeface="Inter"/>
                  <a:cs typeface="Inter"/>
                  <a:sym typeface="Inter"/>
                </a:rPr>
                <a:t>[5]</a:t>
              </a:r>
              <a:r>
                <a:rPr b="0" lang="en" sz="10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Gradient Boosting Regressor (scikit-learn)</a:t>
              </a:r>
              <a:br>
                <a:rPr b="0" lang="en" sz="10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850" u="sng">
                  <a:solidFill>
                    <a:srgbClr val="004B87"/>
                  </a:solidFill>
                  <a:latin typeface="Inter"/>
                  <a:ea typeface="Inter"/>
                  <a:cs typeface="Inter"/>
                  <a:sym typeface="Inter"/>
                </a:rPr>
                <a:t>scikit-learn.org/stable/...GradientBoostingRegressor.html</a:t>
              </a:r>
              <a:endParaRPr b="0" sz="1000">
                <a:solidFill>
                  <a:srgbClr val="004B8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4B87"/>
                  </a:solidFill>
                  <a:latin typeface="Inter"/>
                  <a:ea typeface="Inter"/>
                  <a:cs typeface="Inter"/>
                  <a:sym typeface="Inter"/>
                </a:rPr>
                <a:t>[6]</a:t>
              </a:r>
              <a:r>
                <a:rPr b="0" lang="en" sz="10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Random Forest Regressor (scikit-learn)</a:t>
              </a:r>
              <a:br>
                <a:rPr b="0" lang="en" sz="10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850" u="sng">
                  <a:solidFill>
                    <a:srgbClr val="004B87"/>
                  </a:solidFill>
                  <a:latin typeface="Inter"/>
                  <a:ea typeface="Inter"/>
                  <a:cs typeface="Inter"/>
                  <a:sym typeface="Inter"/>
                </a:rPr>
                <a:t>scikit-learn.org/stable/...RandomForestRegressor.html</a:t>
              </a:r>
              <a:endParaRPr b="0" sz="1000">
                <a:solidFill>
                  <a:srgbClr val="004B8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4B87"/>
                  </a:solidFill>
                  <a:latin typeface="Inter"/>
                  <a:ea typeface="Inter"/>
                  <a:cs typeface="Inter"/>
                  <a:sym typeface="Inter"/>
                </a:rPr>
                <a:t>[7]</a:t>
              </a:r>
              <a:r>
                <a:rPr b="0" lang="en" sz="10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Random Forest Classifier (scikit-learn)</a:t>
              </a:r>
              <a:br>
                <a:rPr b="0" lang="en" sz="10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850" u="sng">
                  <a:solidFill>
                    <a:srgbClr val="004B87"/>
                  </a:solidFill>
                  <a:latin typeface="Inter"/>
                  <a:ea typeface="Inter"/>
                  <a:cs typeface="Inter"/>
                  <a:sym typeface="Inter"/>
                </a:rPr>
                <a:t>scikit-learn.org/stable/...RandomForestClassifier.html</a:t>
              </a:r>
              <a:endParaRPr b="0" sz="1000">
                <a:solidFill>
                  <a:srgbClr val="004B8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grpSp>
          <p:nvGrpSpPr>
            <p:cNvPr id="250" name="Google Shape;250;p22"/>
            <p:cNvGrpSpPr/>
            <p:nvPr/>
          </p:nvGrpSpPr>
          <p:grpSpPr>
            <a:xfrm>
              <a:off x="0" y="2286000"/>
              <a:ext cx="3952800" cy="1047900"/>
              <a:chOff x="0" y="0"/>
              <a:chExt cx="3952800" cy="1047900"/>
            </a:xfrm>
          </p:grpSpPr>
          <p:sp>
            <p:nvSpPr>
              <p:cNvPr id="251" name="Google Shape;251;p22"/>
              <p:cNvSpPr/>
              <p:nvPr/>
            </p:nvSpPr>
            <p:spPr>
              <a:xfrm>
                <a:off x="0" y="0"/>
                <a:ext cx="3952800" cy="1047900"/>
              </a:xfrm>
              <a:prstGeom prst="rect">
                <a:avLst/>
              </a:prstGeom>
              <a:solidFill>
                <a:srgbClr val="F7F9FA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22"/>
              <p:cNvSpPr/>
              <p:nvPr/>
            </p:nvSpPr>
            <p:spPr>
              <a:xfrm>
                <a:off x="0" y="0"/>
                <a:ext cx="38100" cy="1047900"/>
              </a:xfrm>
              <a:prstGeom prst="rect">
                <a:avLst/>
              </a:prstGeom>
              <a:solidFill>
                <a:srgbClr val="004B8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22"/>
              <p:cNvSpPr txBox="1"/>
              <p:nvPr/>
            </p:nvSpPr>
            <p:spPr>
              <a:xfrm>
                <a:off x="190500" y="142875"/>
                <a:ext cx="35718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04B8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Acknowledgement</a:t>
                </a:r>
                <a:endParaRPr b="0" sz="1000">
                  <a:solidFill>
                    <a:srgbClr val="004B8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i="1" lang="en" sz="11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The dataset was downloaded from NASA POWER.</a:t>
                </a:r>
                <a:endParaRPr b="0" i="1" sz="11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oogle Shape;258;p2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59" name="Google Shape;259;p23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7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3"/>
            <p:cNvSpPr/>
            <p:nvPr/>
          </p:nvSpPr>
          <p:spPr>
            <a:xfrm>
              <a:off x="4552950" y="476250"/>
              <a:ext cx="38100" cy="9525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3"/>
            <p:cNvSpPr/>
            <p:nvPr/>
          </p:nvSpPr>
          <p:spPr>
            <a:xfrm>
              <a:off x="4552950" y="3714750"/>
              <a:ext cx="38100" cy="9525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2" name="Google Shape;262;p23"/>
          <p:cNvSpPr txBox="1"/>
          <p:nvPr/>
        </p:nvSpPr>
        <p:spPr>
          <a:xfrm>
            <a:off x="952500" y="1714500"/>
            <a:ext cx="7239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 b="1" sz="40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